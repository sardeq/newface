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7"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6413FBC-1E1B-8146-5B8D-C0051C98DEE0}">
          <p14:sldIdLst>
            <p14:sldId id="256"/>
          </p14:sldIdLst>
        </p14:section>
        <p14:section name="Impact on Jordan" id="{C4025988-B57A-E4BB-1337-2C6DF9229F81}">
          <p14:sldIdLst>
            <p14:sldId id="257"/>
            <p14:sldId id="258"/>
          </p14:sldIdLst>
        </p14:section>
        <p14:section name="Innovation &amp; creativity" id="{9D008798-D8B2-D45A-67FE-98F7A8017B99}">
          <p14:sldIdLst>
            <p14:sldId id="259"/>
            <p14:sldId id="260"/>
            <p14:sldId id="261"/>
          </p14:sldIdLst>
        </p14:section>
        <p14:section name="User experience &amp; design" id="{07B0A3EF-E21C-CFD5-4499-6A7D61EF78E2}">
          <p14:sldIdLst>
            <p14:sldId id="262"/>
          </p14:sldIdLst>
        </p14:section>
        <p14:section name="Technical implementation" id="{A56F4FF6-887D-EB3A-B6A1-D3D0F90BC97C}">
          <p14:sldIdLst>
            <p14:sldId id="264"/>
          </p14:sldIdLst>
        </p14:section>
        <p14:section name="Feasibility &amp; scalability" id="{AF09161E-ADE1-928D-8A3B-9FFD61BB5455}">
          <p14:sldIdLst/>
        </p14:section>
        <p14:section name="Close" id="{58FA7DA4-D255-3BE8-E3CF-A73A1B9B02D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0" d="100"/>
          <a:sy n="80" d="100"/>
        </p:scale>
        <p:origin x="754"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202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(15 s)
"Matab — مطب — is Arabic for speed bump: the thing every driver in Amman braces for.
Matab lets residents report a broken street from their phone, has AI check every report, lets neighbours chip in to fund the repair, and lets local contractors bid to fix it. Every fix becomes a public before-and-after story."
Introduce the team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0:15–0:55 (40 s)
"This is a real street. Everyone has driven through one like it.
The problem isn't only that roads break — it's that a broken street has no visible owner. If I report it today, it's a private complaint. My neighbours can't see it, can't add their voice, and nobody can check later whether it was fixed.
And the cost lands on real people: drivers swerving into oncoming traffic, kids and older people falling on broken sidewalks and unlit stairs, shops flooding every winter because a drain is blocked."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0:55–1:35 (40 s)
"Four groups in Jordan benefit.
Residents get a way to report in under a minute and to follow their report through to the fix.
Municipalities get a queue that is already checked, with a photo and a GPS pin on every item — instead of phone calls.
Local contractors — small Jordanian firms — get a fair, open way to win repair work and build a reputation.
And neighbours who want to help can fund a specific repair on their own street and see exactly where the money went.
One more thing that matters here: Jordan is one of the most water-scarce countries in the world. A burst water main that gets reported and fixed faster is water we keep."
[If you have a local number — e.g. potholes reported to your municipality last winter — say it here, with its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(35 s)
"Here's the whole loop.
One: a resident takes a photo — the phone pins the location.
Two: AI checks it in seconds.
Three: the municipal desk puts an official price on the repair.
Four: neighbours can chip in — openly or anonymously.
Five: verified contractors bid, and the desk approves one and issues a work order.
Six: the fix is published with before-and-after photos.
And every one of those steps is stamped on a public timeline, so anyone can see exactly where a repair is stuck."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2:10–2:50 (40 s)
"We use AI in exactly three places — the three places where a human queue would slow everything down.
Gate one: every report. Gemma, an open multimodal model, looks at the photo and the description together. If it's confident the problem is real, the report goes live instantly. If it's confident it's spam, it's closed — and the author can appeal. Anything in between goes to a person.
Gate two: before we ask anyone for money, the AI checks the city's price against typical Amman repair costs.
Gate three: every contractor bid gets a score with reasons.
But the AI never moves money and never awards a job. It clears the queue — people make the decisions."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2:50–3:20 (30 s)
"The second new idea is trust. Crowdfunding a public repair only works if people can check what happened to their money.
So every repair keeps its full trail in public: the status timeline, a donation ledger — with anonymous donors hidden — the contractor's name, the final cost, and the before-and-after photos.
This pothole is from our demo data: here's the report, and here's the same spot after the fix."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3:20–4:00 (40 s)
"These are real screens from the running app, on a phone.
The feed shows what's broken around you. A report takes four steps — photo, GPS pin, a sentence, and the AI check — and the camera and location come straight from the phone.
Every report shows the same plain five-step tracker: review, funding, assigned, working, fixed.
The map shows every open issue in the city, colour-coded by status, and the Fixed tab is where success stories live — you drag the slider to compare before and after.
The same app serves three roles: residents, the municipal desk, and contractors.
The brand is bilingual — Matab, مطب — and a full Arabic, right-to-left interface is the next thing we build."
[OPTIONAL live demo instead of this slide — keep it to 60 s: open the feed → open a report → open a success story and drag the slider.]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(30 s)
"Under the hood: a React and TypeScript web app talking to Supabase — Postgres with row-level security, authentication, photo storage and realtime updates. AI calls go through a Supabase edge function to Gemma on OpenRouter, so the AI key never reaches the phone.
The important design choice: the rules live in the database, not in the app. A trigger forces every new report into review, so nobody can publish around the AI or the desk. Money only moves through one server function, and no user can promote themselves to admin."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6:25–6:45 (20 s)
"Matab turns a photo of a broken street into a funded, verified, public repair. The AI does the paperwork; people make the decisions.
What we need next is [a pilot district and a contact at the municipality].
Report it. Back it. Get it fixed. Thank you."
Total ≈ 6:45 — leaves 15 s of buffer under 7 minutes.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content">
    <p:bg>
      <p:bgPr>
        <a:solidFill>
          <a:schemeClr val="accent5"/>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rtlCol="0"/>
          <a:lstStyle>
            <a:lvl1pPr marL="0" indent="0">
              <a:buNone/>
              <a:defRPr lang="en-US" sz="1300" b="1" kern="0" spc="300"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txBox="1"/>
          <p:nvPr/>
        </p:nvSpPr>
        <p:spPr>
          <a:xfrm>
            <a:off x="685800" y="6355080"/>
            <a:ext cx="3657600" cy="274320"/>
          </a:xfrm>
          <a:prstGeom prst="rect">
            <a:avLst/>
          </a:prstGeom>
          <a:noFill/>
          <a:ln/>
        </p:spPr>
        <p:txBody>
          <a:bodyPr wrap="square" lIns="0" tIns="0" rIns="0" bIns="0" rtlCol="0" anchor="ctr"/>
          <a:lstStyle/>
          <a:p>
            <a:pPr marL="0" indent="0">
              <a:buNone/>
            </a:pPr>
            <a:r>
              <a:rPr lang="en-US" sz="1100" dirty="0">
                <a:solidFill>
                  <a:schemeClr val="tx2"/>
                </a:solidFill>
              </a:rPr>
              <a:t>Matab · مطب</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ed 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rtlCol="0"/>
          <a:lstStyle>
            <a:lvl1pPr marL="0" indent="0">
              <a:buNone/>
              <a:defRPr lang="en-US" sz="1300" b="1" kern="0" spc="300" dirty="0">
                <a:solidFill>
                  <a:schemeClr val="accent2"/>
                </a:solidFill>
              </a:defRPr>
            </a:lvl1pPr>
          </a:lstStyle>
          <a:p>
            <a:pPr marL="0" indent="0">
              <a:buNone/>
            </a:pP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txBox="1"/>
          <p:nvPr/>
        </p:nvSpPr>
        <p:spPr>
          <a:xfrm>
            <a:off x="685800" y="6355080"/>
            <a:ext cx="3657600" cy="274320"/>
          </a:xfrm>
          <a:prstGeom prst="rect">
            <a:avLst/>
          </a:prstGeom>
          <a:noFill/>
          <a:ln/>
        </p:spPr>
        <p:txBody>
          <a:bodyPr wrap="square" lIns="0" tIns="0" rIns="0" bIns="0" rtlCol="0" anchor="ctr"/>
          <a:lstStyle/>
          <a:p>
            <a:pPr marL="0" indent="0">
              <a:buNone/>
            </a:pPr>
            <a:r>
              <a:rPr lang="en-US" sz="1100" dirty="0">
                <a:solidFill>
                  <a:schemeClr val="tx2"/>
                </a:solidFill>
              </a:rPr>
              <a:t>Matab · مطب</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rtlCol="0"/>
          <a:lstStyle>
            <a:lvl1pPr marL="0" indent="0">
              <a:buNone/>
              <a:defRPr lang="en-US" sz="1300" b="1" kern="0" spc="3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rtlCol="0"/>
          <a:lstStyle>
            <a:lvl1pPr marL="0" indent="0" algn="l">
              <a:buNone/>
              <a:defRPr lang="en-US" sz="3600" b="1" dirty="0">
                <a:solidFill>
                  <a:schemeClr val="accent5"/>
                </a:solidFill>
              </a:defRPr>
            </a:lvl1pPr>
          </a:lstStyle>
          <a:p>
            <a:pPr marL="0" indent="0" algn="l">
              <a:buNone/>
            </a:pPr>
            <a:endParaRPr lang="en-US" sz="3600" dirty="0"/>
          </a:p>
        </p:txBody>
      </p:sp>
      <p:sp>
        <p:nvSpPr>
          <p:cNvPr id="4" name="Text 0"/>
          <p:cNvSpPr txBox="1"/>
          <p:nvPr/>
        </p:nvSpPr>
        <p:spPr>
          <a:xfrm>
            <a:off x="685800" y="6355080"/>
            <a:ext cx="3657600" cy="274320"/>
          </a:xfrm>
          <a:prstGeom prst="rect">
            <a:avLst/>
          </a:prstGeom>
          <a:noFill/>
          <a:ln/>
        </p:spPr>
        <p:txBody>
          <a:bodyPr wrap="square" lIns="0" tIns="0" rIns="0" bIns="0" rtlCol="0" anchor="ctr"/>
          <a:lstStyle/>
          <a:p>
            <a:pPr marL="0" indent="0">
              <a:buNone/>
            </a:pPr>
            <a:r>
              <a:rPr lang="en-US" sz="1100" dirty="0">
                <a:solidFill>
                  <a:schemeClr val="accent6"/>
                </a:solidFill>
              </a:rPr>
              <a:t>Matab · مطب</a:t>
            </a:r>
            <a:endParaRPr lang="en-US" sz="11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1783080"/>
            <a:ext cx="5760720" cy="1188720"/>
          </a:xfrm>
          <a:prstGeom prst="rect">
            <a:avLst/>
          </a:prstGeom>
          <a:noFill/>
          <a:ln/>
        </p:spPr>
        <p:txBody>
          <a:bodyPr wrap="square" rtlCol="0"/>
          <a:lstStyle>
            <a:lvl1pPr marL="0" indent="0" algn="l">
              <a:buNone/>
              <a:defRPr lang="en-US" sz="8000" b="1" dirty="0">
                <a:solidFill>
                  <a:schemeClr val="accent5"/>
                </a:solidFill>
              </a:defRPr>
            </a:lvl1pPr>
          </a:lstStyle>
          <a:p>
            <a:pPr marL="0" indent="0" algn="l">
              <a:buNone/>
            </a:pPr>
            <a:endParaRPr lang="en-US" sz="8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1737360"/>
            <a:ext cx="10820095" cy="1188720"/>
          </a:xfrm>
          <a:prstGeom prst="rect">
            <a:avLst/>
          </a:prstGeom>
          <a:noFill/>
          <a:ln/>
        </p:spPr>
        <p:txBody>
          <a:bodyPr wrap="square" rtlCol="0"/>
          <a:lstStyle>
            <a:lvl1pPr marL="0" indent="0" algn="l">
              <a:buNone/>
              <a:defRPr lang="en-US" sz="6000" b="1" dirty="0">
                <a:solidFill>
                  <a:schemeClr val="tx1"/>
                </a:solidFill>
              </a:defRPr>
            </a:lvl1pPr>
          </a:lstStyle>
          <a:p>
            <a:pPr marL="0" indent="0" algn="l">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A pothole in Amman full of rainwater and smashed red reflectors"/>
          <p:cNvPicPr>
            <a:picLocks noChangeAspect="1"/>
          </p:cNvPicPr>
          <p:nvPr/>
        </p:nvPicPr>
        <p:blipFill>
          <a:blip r:embed="rId3"/>
          <a:stretch>
            <a:fillRect/>
          </a:stretch>
        </p:blipFill>
        <p:spPr>
          <a:xfrm>
            <a:off x="7116775" y="0"/>
            <a:ext cx="5074920" cy="6858000"/>
          </a:xfrm>
          <a:prstGeom prst="rect">
            <a:avLst/>
          </a:prstGeom>
        </p:spPr>
      </p:pic>
      <p:sp>
        <p:nvSpPr>
          <p:cNvPr id="3" name="Eyebrow"/>
          <p:cNvSpPr txBox="1"/>
          <p:nvPr/>
        </p:nvSpPr>
        <p:spPr>
          <a:xfrm>
            <a:off x="685800" y="1325880"/>
            <a:ext cx="5760720" cy="320040"/>
          </a:xfrm>
          <a:prstGeom prst="rect">
            <a:avLst/>
          </a:prstGeom>
          <a:noFill/>
          <a:ln/>
        </p:spPr>
        <p:txBody>
          <a:bodyPr wrap="square" lIns="0" tIns="0" rIns="0" bIns="0" rtlCol="0" anchor="t"/>
          <a:lstStyle/>
          <a:p>
            <a:pPr marL="0" indent="0">
              <a:buNone/>
            </a:pPr>
            <a:r>
              <a:rPr lang="en-US" sz="1300" b="1" kern="0" spc="400" dirty="0">
                <a:solidFill>
                  <a:schemeClr val="accent1"/>
                </a:solidFill>
              </a:rPr>
              <a:t>Smart Society &amp; Public Services</a:t>
            </a:r>
            <a:endParaRPr lang="en-US" sz="1300" dirty="0"/>
          </a:p>
        </p:txBody>
      </p:sp>
      <p:sp>
        <p:nvSpPr>
          <p:cNvPr id="4" name="Text 0"/>
          <p:cNvSpPr>
            <a:spLocks noGrp="1"/>
          </p:cNvSpPr>
          <p:nvPr>
            <p:ph type="title" idx="100" hasCustomPrompt="1"/>
          </p:nvPr>
        </p:nvSpPr>
        <p:spPr>
          <a:xfrm>
            <a:off x="685800" y="1783080"/>
            <a:ext cx="5760720" cy="1188720"/>
          </a:xfrm>
          <a:prstGeom prst="rect">
            <a:avLst/>
          </a:prstGeom>
          <a:noFill/>
          <a:ln/>
        </p:spPr>
        <p:txBody>
          <a:bodyPr wrap="square" lIns="0" tIns="0" rIns="0" bIns="0" rtlCol="0" anchor="t"/>
          <a:lstStyle/>
          <a:p>
            <a:pPr marL="0" indent="0" algn="l">
              <a:buNone/>
            </a:pPr>
            <a:r>
              <a:rPr lang="en-US" sz="8000" b="1" dirty="0">
                <a:solidFill>
                  <a:schemeClr val="accent5"/>
                </a:solidFill>
              </a:rPr>
              <a:t>Matab  </a:t>
            </a:r>
            <a:r>
              <a:rPr lang="en-US" sz="8000" b="1" dirty="0">
                <a:solidFill>
                  <a:schemeClr val="accent1"/>
                </a:solidFill>
                <a:latin typeface="Arial" pitchFamily="34" charset="0"/>
                <a:ea typeface="Arial" pitchFamily="34" charset="-122"/>
                <a:cs typeface="Arial" pitchFamily="34" charset="-120"/>
              </a:rPr>
              <a:t>مطب</a:t>
            </a:r>
            <a:endParaRPr lang="en-US" sz="8000" dirty="0"/>
          </a:p>
        </p:txBody>
      </p:sp>
      <p:sp>
        <p:nvSpPr>
          <p:cNvPr id="5" name="Tagline"/>
          <p:cNvSpPr txBox="1"/>
          <p:nvPr/>
        </p:nvSpPr>
        <p:spPr>
          <a:xfrm>
            <a:off x="685800" y="3108960"/>
            <a:ext cx="5943600" cy="548640"/>
          </a:xfrm>
          <a:prstGeom prst="rect">
            <a:avLst/>
          </a:prstGeom>
          <a:noFill/>
          <a:ln/>
        </p:spPr>
        <p:txBody>
          <a:bodyPr wrap="square" lIns="0" tIns="0" rIns="0" bIns="0" rtlCol="0" anchor="t"/>
          <a:lstStyle/>
          <a:p>
            <a:pPr marL="0" indent="0">
              <a:buNone/>
            </a:pPr>
            <a:r>
              <a:rPr lang="en-US" sz="2800" dirty="0">
                <a:solidFill>
                  <a:schemeClr val="accent5"/>
                </a:solidFill>
                <a:latin typeface="Cambria" pitchFamily="34" charset="0"/>
                <a:ea typeface="Cambria" pitchFamily="34" charset="-122"/>
                <a:cs typeface="Cambria" pitchFamily="34" charset="-120"/>
              </a:rPr>
              <a:t>Report it. Back it. Get it fixed.</a:t>
            </a:r>
            <a:endParaRPr lang="en-US" sz="2800" dirty="0"/>
          </a:p>
        </p:txBody>
      </p:sp>
      <p:sp>
        <p:nvSpPr>
          <p:cNvPr id="7" name="Team line"/>
          <p:cNvSpPr txBox="1"/>
          <p:nvPr/>
        </p:nvSpPr>
        <p:spPr>
          <a:xfrm>
            <a:off x="685800" y="5394959"/>
            <a:ext cx="5760720" cy="729615"/>
          </a:xfrm>
          <a:prstGeom prst="rect">
            <a:avLst/>
          </a:prstGeom>
          <a:noFill/>
          <a:ln/>
        </p:spPr>
        <p:txBody>
          <a:bodyPr wrap="square" lIns="0" tIns="0" rIns="0" bIns="0" rtlCol="0" anchor="t"/>
          <a:lstStyle/>
          <a:p>
            <a:pPr marL="0" indent="0">
              <a:buNone/>
            </a:pPr>
            <a:r>
              <a:rPr lang="en-US" sz="1400" dirty="0" err="1">
                <a:solidFill>
                  <a:schemeClr val="accent6"/>
                </a:solidFill>
              </a:rPr>
              <a:t>Newface</a:t>
            </a:r>
            <a:endParaRPr lang="en-US" sz="1400" dirty="0">
              <a:solidFill>
                <a:schemeClr val="accent6"/>
              </a:solidFill>
            </a:endParaRPr>
          </a:p>
          <a:p>
            <a:pPr marL="0" indent="0">
              <a:buNone/>
            </a:pPr>
            <a:r>
              <a:rPr lang="en-US" sz="1400" dirty="0">
                <a:solidFill>
                  <a:schemeClr val="accent6"/>
                </a:solidFill>
              </a:rPr>
              <a:t>Mohammad AbuEideh - Sadeq Odeh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IMPACT ON JORDAN · THE PROBLEM</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Broken streets have no visible owner</a:t>
            </a:r>
            <a:endParaRPr lang="en-US" sz="3600" dirty="0"/>
          </a:p>
        </p:txBody>
      </p:sp>
      <p:pic>
        <p:nvPicPr>
          <p:cNvPr id="4" name="Problem photo" descr="A wide broken stretch of asphalt along the kerb lane, filled with rainwater, next to a parked car"/>
          <p:cNvPicPr>
            <a:picLocks noChangeAspect="1"/>
          </p:cNvPicPr>
          <p:nvPr/>
        </p:nvPicPr>
        <p:blipFill>
          <a:blip r:embed="rId3"/>
          <a:stretch>
            <a:fillRect/>
          </a:stretch>
        </p:blipFill>
        <p:spPr>
          <a:xfrm>
            <a:off x="685800" y="1828800"/>
            <a:ext cx="3383280" cy="4343400"/>
          </a:xfrm>
          <a:prstGeom prst="rect">
            <a:avLst/>
          </a:prstGeom>
        </p:spPr>
      </p:pic>
      <p:sp>
        <p:nvSpPr>
          <p:cNvPr id="5" name="Problem statement"/>
          <p:cNvSpPr txBox="1"/>
          <p:nvPr/>
        </p:nvSpPr>
        <p:spPr>
          <a:xfrm>
            <a:off x="4434840" y="1828800"/>
            <a:ext cx="7071055" cy="1143000"/>
          </a:xfrm>
          <a:prstGeom prst="rect">
            <a:avLst/>
          </a:prstGeom>
          <a:noFill/>
          <a:ln/>
        </p:spPr>
        <p:txBody>
          <a:bodyPr wrap="square" lIns="0" tIns="0" rIns="0" bIns="0" rtlCol="0" anchor="t"/>
          <a:lstStyle/>
          <a:p>
            <a:pPr marL="0" indent="0">
              <a:lnSpc>
                <a:spcPct val="115000"/>
              </a:lnSpc>
              <a:buNone/>
            </a:pPr>
            <a:r>
              <a:rPr lang="en-US" sz="1800" dirty="0">
                <a:solidFill>
                  <a:schemeClr val="tx2"/>
                </a:solidFill>
              </a:rPr>
              <a:t>When a road, a stair light or a water main breaks, the people who use it every day have no shared place to report it, push it up the list, or see that it was fixed.</a:t>
            </a:r>
            <a:endParaRPr lang="en-US" sz="1800" dirty="0"/>
          </a:p>
        </p:txBody>
      </p:sp>
      <p:sp>
        <p:nvSpPr>
          <p:cNvPr id="6" name="Harm 1 circle"/>
          <p:cNvSpPr/>
          <p:nvPr/>
        </p:nvSpPr>
        <p:spPr>
          <a:xfrm>
            <a:off x="4434840" y="3291840"/>
            <a:ext cx="566928" cy="566928"/>
          </a:xfrm>
          <a:prstGeom prst="ellipse">
            <a:avLst/>
          </a:prstGeom>
          <a:solidFill>
            <a:schemeClr val="accent2"/>
          </a:solidFill>
          <a:ln/>
        </p:spPr>
        <p:txBody>
          <a:bodyPr/>
          <a:lstStyle/>
          <a:p>
            <a:endParaRPr lang="en-US"/>
          </a:p>
        </p:txBody>
      </p:sp>
      <p:pic>
        <p:nvPicPr>
          <p:cNvPr id="7" name="Harm 1 icon" descr="preencoded.png"/>
          <p:cNvPicPr>
            <a:picLocks noChangeAspect="1"/>
          </p:cNvPicPr>
          <p:nvPr/>
        </p:nvPicPr>
        <p:blipFill>
          <a:blip r:embed="rId4"/>
          <a:stretch>
            <a:fillRect/>
          </a:stretch>
        </p:blipFill>
        <p:spPr>
          <a:xfrm>
            <a:off x="4570903" y="3427903"/>
            <a:ext cx="294803" cy="294803"/>
          </a:xfrm>
          <a:prstGeom prst="rect">
            <a:avLst/>
          </a:prstGeom>
        </p:spPr>
      </p:pic>
      <p:sp>
        <p:nvSpPr>
          <p:cNvPr id="8" name="Harm 1 text"/>
          <p:cNvSpPr txBox="1"/>
          <p:nvPr/>
        </p:nvSpPr>
        <p:spPr>
          <a:xfrm>
            <a:off x="5212080" y="3364992"/>
            <a:ext cx="6293815" cy="457200"/>
          </a:xfrm>
          <a:prstGeom prst="rect">
            <a:avLst/>
          </a:prstGeom>
          <a:noFill/>
          <a:ln/>
        </p:spPr>
        <p:txBody>
          <a:bodyPr wrap="square" lIns="0" tIns="0" rIns="0" bIns="0" rtlCol="0" anchor="ctr"/>
          <a:lstStyle/>
          <a:p>
            <a:pPr marL="0" indent="0">
              <a:buNone/>
            </a:pPr>
            <a:r>
              <a:rPr lang="en-US" sz="1800" b="1" dirty="0">
                <a:solidFill>
                  <a:schemeClr val="tx1"/>
                </a:solidFill>
              </a:rPr>
              <a:t>Drivers</a:t>
            </a:r>
            <a:r>
              <a:rPr lang="en-US" sz="1800" dirty="0">
                <a:solidFill>
                  <a:schemeClr val="tx1"/>
                </a:solidFill>
              </a:rPr>
              <a:t> swerve into oncoming lanes and lose tyres</a:t>
            </a:r>
            <a:endParaRPr lang="en-US" sz="1800" dirty="0"/>
          </a:p>
        </p:txBody>
      </p:sp>
      <p:sp>
        <p:nvSpPr>
          <p:cNvPr id="9" name="Harm 2 circle"/>
          <p:cNvSpPr/>
          <p:nvPr/>
        </p:nvSpPr>
        <p:spPr>
          <a:xfrm>
            <a:off x="4434840" y="4206240"/>
            <a:ext cx="566928" cy="566928"/>
          </a:xfrm>
          <a:prstGeom prst="ellipse">
            <a:avLst/>
          </a:prstGeom>
          <a:solidFill>
            <a:schemeClr val="accent2"/>
          </a:solidFill>
          <a:ln/>
        </p:spPr>
        <p:txBody>
          <a:bodyPr/>
          <a:lstStyle/>
          <a:p>
            <a:endParaRPr lang="en-US"/>
          </a:p>
        </p:txBody>
      </p:sp>
      <p:pic>
        <p:nvPicPr>
          <p:cNvPr id="10" name="Harm 2 icon" descr="preencoded.png"/>
          <p:cNvPicPr>
            <a:picLocks noChangeAspect="1"/>
          </p:cNvPicPr>
          <p:nvPr/>
        </p:nvPicPr>
        <p:blipFill>
          <a:blip r:embed="rId5"/>
          <a:stretch>
            <a:fillRect/>
          </a:stretch>
        </p:blipFill>
        <p:spPr>
          <a:xfrm>
            <a:off x="4570903" y="4342303"/>
            <a:ext cx="294803" cy="294803"/>
          </a:xfrm>
          <a:prstGeom prst="rect">
            <a:avLst/>
          </a:prstGeom>
        </p:spPr>
      </p:pic>
      <p:sp>
        <p:nvSpPr>
          <p:cNvPr id="11" name="Harm 2 text"/>
          <p:cNvSpPr txBox="1"/>
          <p:nvPr/>
        </p:nvSpPr>
        <p:spPr>
          <a:xfrm>
            <a:off x="5212080" y="4279392"/>
            <a:ext cx="6293815" cy="457200"/>
          </a:xfrm>
          <a:prstGeom prst="rect">
            <a:avLst/>
          </a:prstGeom>
          <a:noFill/>
          <a:ln/>
        </p:spPr>
        <p:txBody>
          <a:bodyPr wrap="square" lIns="0" tIns="0" rIns="0" bIns="0" rtlCol="0" anchor="ctr"/>
          <a:lstStyle/>
          <a:p>
            <a:pPr marL="0" indent="0">
              <a:buNone/>
            </a:pPr>
            <a:r>
              <a:rPr lang="en-US" sz="1800" b="1" dirty="0">
                <a:solidFill>
                  <a:schemeClr val="tx1"/>
                </a:solidFill>
              </a:rPr>
              <a:t>Children and older people</a:t>
            </a:r>
            <a:r>
              <a:rPr lang="en-US" sz="1800" dirty="0">
                <a:solidFill>
                  <a:schemeClr val="tx1"/>
                </a:solidFill>
              </a:rPr>
              <a:t> trip on broken sidewalks and dark stairs</a:t>
            </a:r>
            <a:endParaRPr lang="en-US" sz="1800" dirty="0"/>
          </a:p>
        </p:txBody>
      </p:sp>
      <p:sp>
        <p:nvSpPr>
          <p:cNvPr id="12" name="Harm 3 circle"/>
          <p:cNvSpPr/>
          <p:nvPr/>
        </p:nvSpPr>
        <p:spPr>
          <a:xfrm>
            <a:off x="4434840" y="5120640"/>
            <a:ext cx="566928" cy="566928"/>
          </a:xfrm>
          <a:prstGeom prst="ellipse">
            <a:avLst/>
          </a:prstGeom>
          <a:solidFill>
            <a:schemeClr val="accent2"/>
          </a:solidFill>
          <a:ln/>
        </p:spPr>
        <p:txBody>
          <a:bodyPr/>
          <a:lstStyle/>
          <a:p>
            <a:endParaRPr lang="en-US"/>
          </a:p>
        </p:txBody>
      </p:sp>
      <p:pic>
        <p:nvPicPr>
          <p:cNvPr id="13" name="Harm 3 icon" descr="preencoded.png"/>
          <p:cNvPicPr>
            <a:picLocks noChangeAspect="1"/>
          </p:cNvPicPr>
          <p:nvPr/>
        </p:nvPicPr>
        <p:blipFill>
          <a:blip r:embed="rId6"/>
          <a:stretch>
            <a:fillRect/>
          </a:stretch>
        </p:blipFill>
        <p:spPr>
          <a:xfrm>
            <a:off x="4570903" y="5256703"/>
            <a:ext cx="294803" cy="294803"/>
          </a:xfrm>
          <a:prstGeom prst="rect">
            <a:avLst/>
          </a:prstGeom>
        </p:spPr>
      </p:pic>
      <p:sp>
        <p:nvSpPr>
          <p:cNvPr id="14" name="Harm 3 text"/>
          <p:cNvSpPr txBox="1"/>
          <p:nvPr/>
        </p:nvSpPr>
        <p:spPr>
          <a:xfrm>
            <a:off x="5212080" y="5193792"/>
            <a:ext cx="6293815" cy="457200"/>
          </a:xfrm>
          <a:prstGeom prst="rect">
            <a:avLst/>
          </a:prstGeom>
          <a:noFill/>
          <a:ln/>
        </p:spPr>
        <p:txBody>
          <a:bodyPr wrap="square" lIns="0" tIns="0" rIns="0" bIns="0" rtlCol="0" anchor="ctr"/>
          <a:lstStyle/>
          <a:p>
            <a:pPr marL="0" indent="0">
              <a:buNone/>
            </a:pPr>
            <a:r>
              <a:rPr lang="en-US" sz="1800" b="1" dirty="0">
                <a:solidFill>
                  <a:schemeClr val="tx1"/>
                </a:solidFill>
              </a:rPr>
              <a:t>Shops and homes</a:t>
            </a:r>
            <a:r>
              <a:rPr lang="en-US" sz="1800" dirty="0">
                <a:solidFill>
                  <a:schemeClr val="tx1"/>
                </a:solidFill>
              </a:rPr>
              <a:t> flood when drains stay blocked</a:t>
            </a:r>
            <a:endParaRPr lang="en-US" sz="18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IMPACT ON JORDAN · WHO BENEFITS</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Four groups win, one shared list</a:t>
            </a:r>
            <a:endParaRPr lang="en-US" sz="3600" dirty="0"/>
          </a:p>
        </p:txBody>
      </p:sp>
      <p:sp>
        <p:nvSpPr>
          <p:cNvPr id="4" name="Group 1 card"/>
          <p:cNvSpPr/>
          <p:nvPr/>
        </p:nvSpPr>
        <p:spPr>
          <a:xfrm>
            <a:off x="685800" y="1828800"/>
            <a:ext cx="2499284" cy="3017520"/>
          </a:xfrm>
          <a:prstGeom prst="roundRect">
            <a:avLst>
              <a:gd name="adj" fmla="val 4390"/>
            </a:avLst>
          </a:prstGeom>
          <a:solidFill>
            <a:schemeClr val="bg1"/>
          </a:solidFill>
          <a:ln/>
        </p:spPr>
        <p:txBody>
          <a:bodyPr/>
          <a:lstStyle/>
          <a:p>
            <a:endParaRPr lang="en-US"/>
          </a:p>
        </p:txBody>
      </p:sp>
      <p:sp>
        <p:nvSpPr>
          <p:cNvPr id="5" name="Group 1 circle"/>
          <p:cNvSpPr/>
          <p:nvPr/>
        </p:nvSpPr>
        <p:spPr>
          <a:xfrm>
            <a:off x="960120" y="2103120"/>
            <a:ext cx="640080" cy="640080"/>
          </a:xfrm>
          <a:prstGeom prst="ellipse">
            <a:avLst/>
          </a:prstGeom>
          <a:solidFill>
            <a:schemeClr val="tx1"/>
          </a:solidFill>
          <a:ln/>
        </p:spPr>
        <p:txBody>
          <a:bodyPr/>
          <a:lstStyle/>
          <a:p>
            <a:endParaRPr lang="en-US"/>
          </a:p>
        </p:txBody>
      </p:sp>
      <p:pic>
        <p:nvPicPr>
          <p:cNvPr id="6" name="Group 1 icon" descr="preencoded.png"/>
          <p:cNvPicPr>
            <a:picLocks noChangeAspect="1"/>
          </p:cNvPicPr>
          <p:nvPr/>
        </p:nvPicPr>
        <p:blipFill>
          <a:blip r:embed="rId3"/>
          <a:stretch>
            <a:fillRect/>
          </a:stretch>
        </p:blipFill>
        <p:spPr>
          <a:xfrm>
            <a:off x="1113739" y="2256739"/>
            <a:ext cx="332842" cy="332842"/>
          </a:xfrm>
          <a:prstGeom prst="rect">
            <a:avLst/>
          </a:prstGeom>
        </p:spPr>
      </p:pic>
      <p:sp>
        <p:nvSpPr>
          <p:cNvPr id="7" name="Group 1 name"/>
          <p:cNvSpPr txBox="1"/>
          <p:nvPr/>
        </p:nvSpPr>
        <p:spPr>
          <a:xfrm>
            <a:off x="960120" y="2926080"/>
            <a:ext cx="1950644" cy="411480"/>
          </a:xfrm>
          <a:prstGeom prst="rect">
            <a:avLst/>
          </a:prstGeom>
          <a:noFill/>
          <a:ln/>
        </p:spPr>
        <p:txBody>
          <a:bodyPr wrap="square" lIns="0" tIns="0" rIns="0" bIns="0" rtlCol="0" anchor="t"/>
          <a:lstStyle/>
          <a:p>
            <a:pPr marL="0" indent="0">
              <a:buNone/>
            </a:pPr>
            <a:r>
              <a:rPr lang="en-US" sz="2000" b="1" dirty="0">
                <a:solidFill>
                  <a:schemeClr val="tx1"/>
                </a:solidFill>
              </a:rPr>
              <a:t>Residents</a:t>
            </a:r>
            <a:endParaRPr lang="en-US" sz="2000" dirty="0"/>
          </a:p>
        </p:txBody>
      </p:sp>
      <p:sp>
        <p:nvSpPr>
          <p:cNvPr id="8" name="Group 1 text"/>
          <p:cNvSpPr txBox="1"/>
          <p:nvPr/>
        </p:nvSpPr>
        <p:spPr>
          <a:xfrm>
            <a:off x="960120" y="3383280"/>
            <a:ext cx="1950644" cy="1325880"/>
          </a:xfrm>
          <a:prstGeom prst="rect">
            <a:avLst/>
          </a:prstGeom>
          <a:noFill/>
          <a:ln/>
        </p:spPr>
        <p:txBody>
          <a:bodyPr wrap="square" lIns="0" tIns="0" rIns="0" bIns="0" rtlCol="0" anchor="t"/>
          <a:lstStyle/>
          <a:p>
            <a:pPr marL="0" indent="0">
              <a:lnSpc>
                <a:spcPct val="110000"/>
              </a:lnSpc>
              <a:buNone/>
            </a:pPr>
            <a:r>
              <a:rPr lang="en-US" sz="1500" dirty="0">
                <a:solidFill>
                  <a:schemeClr val="tx2"/>
                </a:solidFill>
              </a:rPr>
              <a:t>Report in under a minute, back the issues on their own street, and follow every step.</a:t>
            </a:r>
            <a:endParaRPr lang="en-US" sz="1500" dirty="0"/>
          </a:p>
        </p:txBody>
      </p:sp>
      <p:sp>
        <p:nvSpPr>
          <p:cNvPr id="9" name="Group 2 card"/>
          <p:cNvSpPr/>
          <p:nvPr/>
        </p:nvSpPr>
        <p:spPr>
          <a:xfrm>
            <a:off x="3459404" y="1828800"/>
            <a:ext cx="2499284" cy="3017520"/>
          </a:xfrm>
          <a:prstGeom prst="roundRect">
            <a:avLst>
              <a:gd name="adj" fmla="val 4390"/>
            </a:avLst>
          </a:prstGeom>
          <a:solidFill>
            <a:schemeClr val="bg1"/>
          </a:solidFill>
          <a:ln/>
        </p:spPr>
        <p:txBody>
          <a:bodyPr/>
          <a:lstStyle/>
          <a:p>
            <a:endParaRPr lang="en-US"/>
          </a:p>
        </p:txBody>
      </p:sp>
      <p:sp>
        <p:nvSpPr>
          <p:cNvPr id="10" name="Group 2 circle"/>
          <p:cNvSpPr/>
          <p:nvPr/>
        </p:nvSpPr>
        <p:spPr>
          <a:xfrm>
            <a:off x="3733724" y="2103120"/>
            <a:ext cx="640080" cy="640080"/>
          </a:xfrm>
          <a:prstGeom prst="ellipse">
            <a:avLst/>
          </a:prstGeom>
          <a:solidFill>
            <a:schemeClr val="tx1"/>
          </a:solidFill>
          <a:ln/>
        </p:spPr>
        <p:txBody>
          <a:bodyPr/>
          <a:lstStyle/>
          <a:p>
            <a:endParaRPr lang="en-US"/>
          </a:p>
        </p:txBody>
      </p:sp>
      <p:pic>
        <p:nvPicPr>
          <p:cNvPr id="11" name="Group 2 icon" descr="preencoded.png"/>
          <p:cNvPicPr>
            <a:picLocks noChangeAspect="1"/>
          </p:cNvPicPr>
          <p:nvPr/>
        </p:nvPicPr>
        <p:blipFill>
          <a:blip r:embed="rId4"/>
          <a:stretch>
            <a:fillRect/>
          </a:stretch>
        </p:blipFill>
        <p:spPr>
          <a:xfrm>
            <a:off x="3887343" y="2256739"/>
            <a:ext cx="332842" cy="332842"/>
          </a:xfrm>
          <a:prstGeom prst="rect">
            <a:avLst/>
          </a:prstGeom>
        </p:spPr>
      </p:pic>
      <p:sp>
        <p:nvSpPr>
          <p:cNvPr id="12" name="Group 2 name"/>
          <p:cNvSpPr txBox="1"/>
          <p:nvPr/>
        </p:nvSpPr>
        <p:spPr>
          <a:xfrm>
            <a:off x="3733724" y="2926080"/>
            <a:ext cx="1950644" cy="411480"/>
          </a:xfrm>
          <a:prstGeom prst="rect">
            <a:avLst/>
          </a:prstGeom>
          <a:noFill/>
          <a:ln/>
        </p:spPr>
        <p:txBody>
          <a:bodyPr wrap="square" lIns="0" tIns="0" rIns="0" bIns="0" rtlCol="0" anchor="t"/>
          <a:lstStyle/>
          <a:p>
            <a:pPr marL="0" indent="0">
              <a:buNone/>
            </a:pPr>
            <a:r>
              <a:rPr lang="en-US" sz="2000" b="1" dirty="0">
                <a:solidFill>
                  <a:schemeClr val="tx1"/>
                </a:solidFill>
              </a:rPr>
              <a:t>Municipalities</a:t>
            </a:r>
            <a:endParaRPr lang="en-US" sz="2000" dirty="0"/>
          </a:p>
        </p:txBody>
      </p:sp>
      <p:sp>
        <p:nvSpPr>
          <p:cNvPr id="13" name="Group 2 text"/>
          <p:cNvSpPr txBox="1"/>
          <p:nvPr/>
        </p:nvSpPr>
        <p:spPr>
          <a:xfrm>
            <a:off x="3733724" y="3383280"/>
            <a:ext cx="1950644" cy="1325880"/>
          </a:xfrm>
          <a:prstGeom prst="rect">
            <a:avLst/>
          </a:prstGeom>
          <a:noFill/>
          <a:ln/>
        </p:spPr>
        <p:txBody>
          <a:bodyPr wrap="square" lIns="0" tIns="0" rIns="0" bIns="0" rtlCol="0" anchor="t"/>
          <a:lstStyle/>
          <a:p>
            <a:pPr marL="0" indent="0">
              <a:lnSpc>
                <a:spcPct val="110000"/>
              </a:lnSpc>
              <a:buNone/>
            </a:pPr>
            <a:r>
              <a:rPr lang="en-US" sz="1500" dirty="0">
                <a:solidFill>
                  <a:schemeClr val="tx2"/>
                </a:solidFill>
              </a:rPr>
              <a:t>Get a pre-checked queue with a photo and GPS pin on every item, instead of scattered phone calls.</a:t>
            </a:r>
            <a:endParaRPr lang="en-US" sz="1500" dirty="0"/>
          </a:p>
        </p:txBody>
      </p:sp>
      <p:sp>
        <p:nvSpPr>
          <p:cNvPr id="14" name="Group 3 card"/>
          <p:cNvSpPr/>
          <p:nvPr/>
        </p:nvSpPr>
        <p:spPr>
          <a:xfrm>
            <a:off x="6233008" y="1828800"/>
            <a:ext cx="2499284" cy="3017520"/>
          </a:xfrm>
          <a:prstGeom prst="roundRect">
            <a:avLst>
              <a:gd name="adj" fmla="val 4390"/>
            </a:avLst>
          </a:prstGeom>
          <a:solidFill>
            <a:schemeClr val="bg1"/>
          </a:solidFill>
          <a:ln/>
        </p:spPr>
        <p:txBody>
          <a:bodyPr/>
          <a:lstStyle/>
          <a:p>
            <a:endParaRPr lang="en-US"/>
          </a:p>
        </p:txBody>
      </p:sp>
      <p:sp>
        <p:nvSpPr>
          <p:cNvPr id="15" name="Group 3 circle"/>
          <p:cNvSpPr/>
          <p:nvPr/>
        </p:nvSpPr>
        <p:spPr>
          <a:xfrm>
            <a:off x="6507328" y="2103120"/>
            <a:ext cx="640080" cy="640080"/>
          </a:xfrm>
          <a:prstGeom prst="ellipse">
            <a:avLst/>
          </a:prstGeom>
          <a:solidFill>
            <a:schemeClr val="tx1"/>
          </a:solidFill>
          <a:ln/>
        </p:spPr>
        <p:txBody>
          <a:bodyPr/>
          <a:lstStyle/>
          <a:p>
            <a:endParaRPr lang="en-US"/>
          </a:p>
        </p:txBody>
      </p:sp>
      <p:pic>
        <p:nvPicPr>
          <p:cNvPr id="16" name="Group 3 icon" descr="preencoded.png"/>
          <p:cNvPicPr>
            <a:picLocks noChangeAspect="1"/>
          </p:cNvPicPr>
          <p:nvPr/>
        </p:nvPicPr>
        <p:blipFill>
          <a:blip r:embed="rId5"/>
          <a:stretch>
            <a:fillRect/>
          </a:stretch>
        </p:blipFill>
        <p:spPr>
          <a:xfrm>
            <a:off x="6660947" y="2256739"/>
            <a:ext cx="332842" cy="332842"/>
          </a:xfrm>
          <a:prstGeom prst="rect">
            <a:avLst/>
          </a:prstGeom>
        </p:spPr>
      </p:pic>
      <p:sp>
        <p:nvSpPr>
          <p:cNvPr id="17" name="Group 3 name"/>
          <p:cNvSpPr txBox="1"/>
          <p:nvPr/>
        </p:nvSpPr>
        <p:spPr>
          <a:xfrm>
            <a:off x="6507328" y="2926080"/>
            <a:ext cx="1950644" cy="411480"/>
          </a:xfrm>
          <a:prstGeom prst="rect">
            <a:avLst/>
          </a:prstGeom>
          <a:noFill/>
          <a:ln/>
        </p:spPr>
        <p:txBody>
          <a:bodyPr wrap="square" lIns="0" tIns="0" rIns="0" bIns="0" rtlCol="0" anchor="t"/>
          <a:lstStyle/>
          <a:p>
            <a:pPr marL="0" indent="0">
              <a:buNone/>
            </a:pPr>
            <a:r>
              <a:rPr lang="en-US" sz="2000" b="1" dirty="0">
                <a:solidFill>
                  <a:schemeClr val="tx1"/>
                </a:solidFill>
              </a:rPr>
              <a:t>Local contractors</a:t>
            </a:r>
            <a:endParaRPr lang="en-US" sz="2000" dirty="0"/>
          </a:p>
        </p:txBody>
      </p:sp>
      <p:sp>
        <p:nvSpPr>
          <p:cNvPr id="18" name="Group 3 text"/>
          <p:cNvSpPr txBox="1"/>
          <p:nvPr/>
        </p:nvSpPr>
        <p:spPr>
          <a:xfrm>
            <a:off x="6507328" y="3383280"/>
            <a:ext cx="1950644" cy="1325880"/>
          </a:xfrm>
          <a:prstGeom prst="rect">
            <a:avLst/>
          </a:prstGeom>
          <a:noFill/>
          <a:ln/>
        </p:spPr>
        <p:txBody>
          <a:bodyPr wrap="square" lIns="0" tIns="0" rIns="0" bIns="0" rtlCol="0" anchor="t"/>
          <a:lstStyle/>
          <a:p>
            <a:pPr marL="0" indent="0">
              <a:lnSpc>
                <a:spcPct val="110000"/>
              </a:lnSpc>
              <a:buNone/>
            </a:pPr>
            <a:r>
              <a:rPr lang="en-US" sz="1500" dirty="0">
                <a:solidFill>
                  <a:schemeClr val="tx2"/>
                </a:solidFill>
              </a:rPr>
              <a:t>Small Jordanian firms bid for repair jobs in the open and build a public track record.</a:t>
            </a:r>
            <a:endParaRPr lang="en-US" sz="1500" dirty="0"/>
          </a:p>
        </p:txBody>
      </p:sp>
      <p:sp>
        <p:nvSpPr>
          <p:cNvPr id="19" name="Group 4 card"/>
          <p:cNvSpPr/>
          <p:nvPr/>
        </p:nvSpPr>
        <p:spPr>
          <a:xfrm>
            <a:off x="9006611" y="1828800"/>
            <a:ext cx="2499284" cy="3017520"/>
          </a:xfrm>
          <a:prstGeom prst="roundRect">
            <a:avLst>
              <a:gd name="adj" fmla="val 4390"/>
            </a:avLst>
          </a:prstGeom>
          <a:solidFill>
            <a:schemeClr val="bg1"/>
          </a:solidFill>
          <a:ln/>
        </p:spPr>
        <p:txBody>
          <a:bodyPr/>
          <a:lstStyle/>
          <a:p>
            <a:endParaRPr lang="en-US"/>
          </a:p>
        </p:txBody>
      </p:sp>
      <p:sp>
        <p:nvSpPr>
          <p:cNvPr id="20" name="Group 4 circle"/>
          <p:cNvSpPr/>
          <p:nvPr/>
        </p:nvSpPr>
        <p:spPr>
          <a:xfrm>
            <a:off x="9280931" y="2103120"/>
            <a:ext cx="640080" cy="640080"/>
          </a:xfrm>
          <a:prstGeom prst="ellipse">
            <a:avLst/>
          </a:prstGeom>
          <a:solidFill>
            <a:schemeClr val="tx1"/>
          </a:solidFill>
          <a:ln/>
        </p:spPr>
        <p:txBody>
          <a:bodyPr/>
          <a:lstStyle/>
          <a:p>
            <a:endParaRPr lang="en-US"/>
          </a:p>
        </p:txBody>
      </p:sp>
      <p:pic>
        <p:nvPicPr>
          <p:cNvPr id="21" name="Group 4 icon" descr="preencoded.png"/>
          <p:cNvPicPr>
            <a:picLocks noChangeAspect="1"/>
          </p:cNvPicPr>
          <p:nvPr/>
        </p:nvPicPr>
        <p:blipFill>
          <a:blip r:embed="rId6"/>
          <a:stretch>
            <a:fillRect/>
          </a:stretch>
        </p:blipFill>
        <p:spPr>
          <a:xfrm>
            <a:off x="9434551" y="2256739"/>
            <a:ext cx="332842" cy="332842"/>
          </a:xfrm>
          <a:prstGeom prst="rect">
            <a:avLst/>
          </a:prstGeom>
        </p:spPr>
      </p:pic>
      <p:sp>
        <p:nvSpPr>
          <p:cNvPr id="22" name="Group 4 name"/>
          <p:cNvSpPr txBox="1"/>
          <p:nvPr/>
        </p:nvSpPr>
        <p:spPr>
          <a:xfrm>
            <a:off x="9280931" y="2926080"/>
            <a:ext cx="1950644" cy="411480"/>
          </a:xfrm>
          <a:prstGeom prst="rect">
            <a:avLst/>
          </a:prstGeom>
          <a:noFill/>
          <a:ln/>
        </p:spPr>
        <p:txBody>
          <a:bodyPr wrap="square" lIns="0" tIns="0" rIns="0" bIns="0" rtlCol="0" anchor="t"/>
          <a:lstStyle/>
          <a:p>
            <a:pPr marL="0" indent="0">
              <a:buNone/>
            </a:pPr>
            <a:r>
              <a:rPr lang="en-US" sz="2000" b="1" dirty="0">
                <a:solidFill>
                  <a:schemeClr val="tx1"/>
                </a:solidFill>
              </a:rPr>
              <a:t>Local donors</a:t>
            </a:r>
            <a:endParaRPr lang="en-US" sz="2000" dirty="0"/>
          </a:p>
        </p:txBody>
      </p:sp>
      <p:sp>
        <p:nvSpPr>
          <p:cNvPr id="23" name="Group 4 text"/>
          <p:cNvSpPr txBox="1"/>
          <p:nvPr/>
        </p:nvSpPr>
        <p:spPr>
          <a:xfrm>
            <a:off x="9280931" y="3383280"/>
            <a:ext cx="1950644" cy="1325880"/>
          </a:xfrm>
          <a:prstGeom prst="rect">
            <a:avLst/>
          </a:prstGeom>
          <a:noFill/>
          <a:ln/>
        </p:spPr>
        <p:txBody>
          <a:bodyPr wrap="square" lIns="0" tIns="0" rIns="0" bIns="0" rtlCol="0" anchor="t"/>
          <a:lstStyle/>
          <a:p>
            <a:pPr marL="0" indent="0">
              <a:lnSpc>
                <a:spcPct val="110000"/>
              </a:lnSpc>
              <a:buNone/>
            </a:pPr>
            <a:r>
              <a:rPr lang="en-US" sz="1500" dirty="0">
                <a:solidFill>
                  <a:schemeClr val="tx2"/>
                </a:solidFill>
              </a:rPr>
              <a:t>Chip in to fix a specific street and see the receipt: cost, contractor, photos.</a:t>
            </a:r>
            <a:endParaRPr lang="en-US" sz="1500" dirty="0"/>
          </a:p>
        </p:txBody>
      </p:sp>
      <p:sp>
        <p:nvSpPr>
          <p:cNvPr id="28"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HOW IT WORKS</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Six steps from photo to published fix</a:t>
            </a:r>
            <a:endParaRPr lang="en-US" sz="3600" dirty="0"/>
          </a:p>
        </p:txBody>
      </p:sp>
      <p:sp>
        <p:nvSpPr>
          <p:cNvPr id="4" name="Step 1 card"/>
          <p:cNvSpPr/>
          <p:nvPr/>
        </p:nvSpPr>
        <p:spPr>
          <a:xfrm>
            <a:off x="685800" y="1828800"/>
            <a:ext cx="1650949" cy="2971800"/>
          </a:xfrm>
          <a:prstGeom prst="roundRect">
            <a:avLst>
              <a:gd name="adj" fmla="val 6646"/>
            </a:avLst>
          </a:prstGeom>
          <a:solidFill>
            <a:schemeClr val="bg1"/>
          </a:solidFill>
          <a:ln/>
        </p:spPr>
        <p:txBody>
          <a:bodyPr/>
          <a:lstStyle/>
          <a:p>
            <a:endParaRPr lang="en-US"/>
          </a:p>
        </p:txBody>
      </p:sp>
      <p:sp>
        <p:nvSpPr>
          <p:cNvPr id="5" name="Step 1 number circle"/>
          <p:cNvSpPr/>
          <p:nvPr/>
        </p:nvSpPr>
        <p:spPr>
          <a:xfrm>
            <a:off x="886968" y="2029968"/>
            <a:ext cx="566928" cy="566928"/>
          </a:xfrm>
          <a:prstGeom prst="ellipse">
            <a:avLst/>
          </a:prstGeom>
          <a:solidFill>
            <a:schemeClr val="accent1"/>
          </a:solidFill>
          <a:ln/>
        </p:spPr>
        <p:txBody>
          <a:bodyPr/>
          <a:lstStyle/>
          <a:p>
            <a:endParaRPr lang="en-US"/>
          </a:p>
        </p:txBody>
      </p:sp>
      <p:sp>
        <p:nvSpPr>
          <p:cNvPr id="6" name="Step 1 number"/>
          <p:cNvSpPr txBox="1"/>
          <p:nvPr/>
        </p:nvSpPr>
        <p:spPr>
          <a:xfrm>
            <a:off x="886968"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01</a:t>
            </a:r>
            <a:endParaRPr lang="en-US" sz="1600" dirty="0"/>
          </a:p>
        </p:txBody>
      </p:sp>
      <p:sp>
        <p:nvSpPr>
          <p:cNvPr id="7" name="Step 1 name"/>
          <p:cNvSpPr txBox="1"/>
          <p:nvPr/>
        </p:nvSpPr>
        <p:spPr>
          <a:xfrm>
            <a:off x="886968" y="2788920"/>
            <a:ext cx="1248613" cy="685800"/>
          </a:xfrm>
          <a:prstGeom prst="rect">
            <a:avLst/>
          </a:prstGeom>
          <a:noFill/>
          <a:ln/>
        </p:spPr>
        <p:txBody>
          <a:bodyPr wrap="square" lIns="0" tIns="0" rIns="0" bIns="0" rtlCol="0" anchor="t"/>
          <a:lstStyle/>
          <a:p>
            <a:pPr marL="0" indent="0">
              <a:buNone/>
            </a:pPr>
            <a:r>
              <a:rPr lang="en-US" sz="1700" b="1" dirty="0">
                <a:solidFill>
                  <a:schemeClr val="tx1"/>
                </a:solidFill>
              </a:rPr>
              <a:t>Report</a:t>
            </a:r>
            <a:endParaRPr lang="en-US" sz="1700" dirty="0"/>
          </a:p>
        </p:txBody>
      </p:sp>
      <p:sp>
        <p:nvSpPr>
          <p:cNvPr id="8" name="Step 1 text"/>
          <p:cNvSpPr txBox="1"/>
          <p:nvPr/>
        </p:nvSpPr>
        <p:spPr>
          <a:xfrm>
            <a:off x="886968"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A resident snaps a photo; GPS pins the spot.</a:t>
            </a:r>
            <a:endParaRPr lang="en-US" sz="1400" dirty="0"/>
          </a:p>
        </p:txBody>
      </p:sp>
      <p:sp>
        <p:nvSpPr>
          <p:cNvPr id="9" name="Step 2 card"/>
          <p:cNvSpPr/>
          <p:nvPr/>
        </p:nvSpPr>
        <p:spPr>
          <a:xfrm>
            <a:off x="2519629" y="1828800"/>
            <a:ext cx="1650949" cy="2971800"/>
          </a:xfrm>
          <a:prstGeom prst="roundRect">
            <a:avLst>
              <a:gd name="adj" fmla="val 6646"/>
            </a:avLst>
          </a:prstGeom>
          <a:solidFill>
            <a:schemeClr val="bg1"/>
          </a:solidFill>
          <a:ln/>
        </p:spPr>
        <p:txBody>
          <a:bodyPr/>
          <a:lstStyle/>
          <a:p>
            <a:endParaRPr lang="en-US"/>
          </a:p>
        </p:txBody>
      </p:sp>
      <p:sp>
        <p:nvSpPr>
          <p:cNvPr id="10" name="Step 2 number circle"/>
          <p:cNvSpPr/>
          <p:nvPr/>
        </p:nvSpPr>
        <p:spPr>
          <a:xfrm>
            <a:off x="2720797" y="2029968"/>
            <a:ext cx="566928" cy="566928"/>
          </a:xfrm>
          <a:prstGeom prst="ellipse">
            <a:avLst/>
          </a:prstGeom>
          <a:solidFill>
            <a:schemeClr val="accent1"/>
          </a:solidFill>
          <a:ln/>
        </p:spPr>
        <p:txBody>
          <a:bodyPr/>
          <a:lstStyle/>
          <a:p>
            <a:endParaRPr lang="en-US"/>
          </a:p>
        </p:txBody>
      </p:sp>
      <p:sp>
        <p:nvSpPr>
          <p:cNvPr id="11" name="Step 2 number"/>
          <p:cNvSpPr txBox="1"/>
          <p:nvPr/>
        </p:nvSpPr>
        <p:spPr>
          <a:xfrm>
            <a:off x="2720797"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02</a:t>
            </a:r>
            <a:endParaRPr lang="en-US" sz="1600" dirty="0"/>
          </a:p>
        </p:txBody>
      </p:sp>
      <p:sp>
        <p:nvSpPr>
          <p:cNvPr id="12" name="Step 2 name"/>
          <p:cNvSpPr txBox="1"/>
          <p:nvPr/>
        </p:nvSpPr>
        <p:spPr>
          <a:xfrm>
            <a:off x="2720797" y="2788920"/>
            <a:ext cx="1248613" cy="685800"/>
          </a:xfrm>
          <a:prstGeom prst="rect">
            <a:avLst/>
          </a:prstGeom>
          <a:noFill/>
          <a:ln/>
        </p:spPr>
        <p:txBody>
          <a:bodyPr wrap="square" lIns="0" tIns="0" rIns="0" bIns="0" rtlCol="0" anchor="t"/>
          <a:lstStyle/>
          <a:p>
            <a:pPr marL="0" indent="0">
              <a:buNone/>
            </a:pPr>
            <a:r>
              <a:rPr lang="en-US" sz="1700" b="1" dirty="0">
                <a:solidFill>
                  <a:schemeClr val="tx1"/>
                </a:solidFill>
              </a:rPr>
              <a:t>AI check</a:t>
            </a:r>
            <a:endParaRPr lang="en-US" sz="1700" dirty="0"/>
          </a:p>
        </p:txBody>
      </p:sp>
      <p:sp>
        <p:nvSpPr>
          <p:cNvPr id="13" name="Step 2 text"/>
          <p:cNvSpPr txBox="1"/>
          <p:nvPr/>
        </p:nvSpPr>
        <p:spPr>
          <a:xfrm>
            <a:off x="2720797"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Gemma decides: real, spam, or ask a human.</a:t>
            </a:r>
            <a:endParaRPr lang="en-US" sz="1400" dirty="0"/>
          </a:p>
        </p:txBody>
      </p:sp>
      <p:sp>
        <p:nvSpPr>
          <p:cNvPr id="14" name="Step 3 card"/>
          <p:cNvSpPr/>
          <p:nvPr/>
        </p:nvSpPr>
        <p:spPr>
          <a:xfrm>
            <a:off x="4353458" y="1828800"/>
            <a:ext cx="1650949" cy="2971800"/>
          </a:xfrm>
          <a:prstGeom prst="roundRect">
            <a:avLst>
              <a:gd name="adj" fmla="val 6646"/>
            </a:avLst>
          </a:prstGeom>
          <a:solidFill>
            <a:schemeClr val="bg1"/>
          </a:solidFill>
          <a:ln/>
        </p:spPr>
        <p:txBody>
          <a:bodyPr/>
          <a:lstStyle/>
          <a:p>
            <a:endParaRPr lang="en-US"/>
          </a:p>
        </p:txBody>
      </p:sp>
      <p:sp>
        <p:nvSpPr>
          <p:cNvPr id="15" name="Step 3 number circle"/>
          <p:cNvSpPr/>
          <p:nvPr/>
        </p:nvSpPr>
        <p:spPr>
          <a:xfrm>
            <a:off x="4554626" y="2029968"/>
            <a:ext cx="566928" cy="566928"/>
          </a:xfrm>
          <a:prstGeom prst="ellipse">
            <a:avLst/>
          </a:prstGeom>
          <a:solidFill>
            <a:schemeClr val="accent1"/>
          </a:solidFill>
          <a:ln/>
        </p:spPr>
        <p:txBody>
          <a:bodyPr/>
          <a:lstStyle/>
          <a:p>
            <a:endParaRPr lang="en-US"/>
          </a:p>
        </p:txBody>
      </p:sp>
      <p:sp>
        <p:nvSpPr>
          <p:cNvPr id="16" name="Step 3 number"/>
          <p:cNvSpPr txBox="1"/>
          <p:nvPr/>
        </p:nvSpPr>
        <p:spPr>
          <a:xfrm>
            <a:off x="4554626"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03</a:t>
            </a:r>
            <a:endParaRPr lang="en-US" sz="1600" dirty="0"/>
          </a:p>
        </p:txBody>
      </p:sp>
      <p:sp>
        <p:nvSpPr>
          <p:cNvPr id="17" name="Step 3 name"/>
          <p:cNvSpPr txBox="1"/>
          <p:nvPr/>
        </p:nvSpPr>
        <p:spPr>
          <a:xfrm>
            <a:off x="4554626" y="2788920"/>
            <a:ext cx="1248613" cy="685800"/>
          </a:xfrm>
          <a:prstGeom prst="rect">
            <a:avLst/>
          </a:prstGeom>
          <a:noFill/>
          <a:ln/>
        </p:spPr>
        <p:txBody>
          <a:bodyPr wrap="square" lIns="0" tIns="0" rIns="0" bIns="0" rtlCol="0" anchor="t"/>
          <a:lstStyle/>
          <a:p>
            <a:pPr marL="0" indent="0">
              <a:buNone/>
            </a:pPr>
            <a:r>
              <a:rPr lang="en-US" sz="1700" b="1" dirty="0">
                <a:solidFill>
                  <a:schemeClr val="tx1"/>
                </a:solidFill>
              </a:rPr>
              <a:t>City prices</a:t>
            </a:r>
            <a:endParaRPr lang="en-US" sz="1700" dirty="0"/>
          </a:p>
        </p:txBody>
      </p:sp>
      <p:sp>
        <p:nvSpPr>
          <p:cNvPr id="18" name="Step 3 text"/>
          <p:cNvSpPr txBox="1"/>
          <p:nvPr/>
        </p:nvSpPr>
        <p:spPr>
          <a:xfrm>
            <a:off x="4554626"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The municipal desk sets an official estimate.</a:t>
            </a:r>
            <a:endParaRPr lang="en-US" sz="1400" dirty="0"/>
          </a:p>
        </p:txBody>
      </p:sp>
      <p:sp>
        <p:nvSpPr>
          <p:cNvPr id="19" name="Step 4 card"/>
          <p:cNvSpPr/>
          <p:nvPr/>
        </p:nvSpPr>
        <p:spPr>
          <a:xfrm>
            <a:off x="6187288" y="1828800"/>
            <a:ext cx="1650949" cy="2971800"/>
          </a:xfrm>
          <a:prstGeom prst="roundRect">
            <a:avLst>
              <a:gd name="adj" fmla="val 6646"/>
            </a:avLst>
          </a:prstGeom>
          <a:solidFill>
            <a:schemeClr val="tx2">
              <a:lumMod val="40000"/>
              <a:lumOff val="60000"/>
            </a:schemeClr>
          </a:solidFill>
          <a:ln/>
        </p:spPr>
        <p:txBody>
          <a:bodyPr/>
          <a:lstStyle/>
          <a:p>
            <a:endParaRPr lang="en-US"/>
          </a:p>
        </p:txBody>
      </p:sp>
      <p:sp>
        <p:nvSpPr>
          <p:cNvPr id="20" name="Step 4 number circle"/>
          <p:cNvSpPr/>
          <p:nvPr/>
        </p:nvSpPr>
        <p:spPr>
          <a:xfrm>
            <a:off x="6388456" y="2029968"/>
            <a:ext cx="566928" cy="566928"/>
          </a:xfrm>
          <a:prstGeom prst="ellipse">
            <a:avLst/>
          </a:prstGeom>
          <a:solidFill>
            <a:schemeClr val="accent1"/>
          </a:solidFill>
          <a:ln/>
        </p:spPr>
        <p:txBody>
          <a:bodyPr/>
          <a:lstStyle/>
          <a:p>
            <a:endParaRPr lang="en-US"/>
          </a:p>
        </p:txBody>
      </p:sp>
      <p:sp>
        <p:nvSpPr>
          <p:cNvPr id="21" name="Step 4 number"/>
          <p:cNvSpPr txBox="1"/>
          <p:nvPr/>
        </p:nvSpPr>
        <p:spPr>
          <a:xfrm>
            <a:off x="6388456"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04</a:t>
            </a:r>
            <a:endParaRPr lang="en-US" sz="1600" dirty="0"/>
          </a:p>
        </p:txBody>
      </p:sp>
      <p:sp>
        <p:nvSpPr>
          <p:cNvPr id="22" name="Step 4 name"/>
          <p:cNvSpPr txBox="1"/>
          <p:nvPr/>
        </p:nvSpPr>
        <p:spPr>
          <a:xfrm>
            <a:off x="6388456" y="2788920"/>
            <a:ext cx="1248613" cy="685800"/>
          </a:xfrm>
          <a:prstGeom prst="rect">
            <a:avLst/>
          </a:prstGeom>
          <a:noFill/>
          <a:ln/>
        </p:spPr>
        <p:txBody>
          <a:bodyPr wrap="square" lIns="0" tIns="0" rIns="0" bIns="0" rtlCol="0" anchor="t"/>
          <a:lstStyle/>
          <a:p>
            <a:pPr marL="0" indent="0">
              <a:buNone/>
            </a:pPr>
            <a:r>
              <a:rPr lang="en-US" sz="1700" b="1" dirty="0">
                <a:solidFill>
                  <a:schemeClr val="tx1"/>
                </a:solidFill>
              </a:rPr>
              <a:t>Neighbours fund</a:t>
            </a:r>
            <a:endParaRPr lang="en-US" sz="1700" dirty="0"/>
          </a:p>
        </p:txBody>
      </p:sp>
      <p:sp>
        <p:nvSpPr>
          <p:cNvPr id="23" name="Step 4 text"/>
          <p:cNvSpPr txBox="1"/>
          <p:nvPr/>
        </p:nvSpPr>
        <p:spPr>
          <a:xfrm>
            <a:off x="6388456"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Anyone can chip in, openly or anonymously.</a:t>
            </a:r>
            <a:endParaRPr lang="en-US" sz="1400" dirty="0"/>
          </a:p>
        </p:txBody>
      </p:sp>
      <p:sp>
        <p:nvSpPr>
          <p:cNvPr id="24" name="Step 5 card"/>
          <p:cNvSpPr/>
          <p:nvPr/>
        </p:nvSpPr>
        <p:spPr>
          <a:xfrm>
            <a:off x="8021117" y="1828800"/>
            <a:ext cx="1650949" cy="2971800"/>
          </a:xfrm>
          <a:prstGeom prst="roundRect">
            <a:avLst>
              <a:gd name="adj" fmla="val 6646"/>
            </a:avLst>
          </a:prstGeom>
          <a:solidFill>
            <a:schemeClr val="tx2">
              <a:lumMod val="40000"/>
              <a:lumOff val="60000"/>
            </a:schemeClr>
          </a:solidFill>
          <a:ln/>
        </p:spPr>
        <p:txBody>
          <a:bodyPr/>
          <a:lstStyle/>
          <a:p>
            <a:endParaRPr lang="en-US"/>
          </a:p>
        </p:txBody>
      </p:sp>
      <p:sp>
        <p:nvSpPr>
          <p:cNvPr id="25" name="Step 5 number circle"/>
          <p:cNvSpPr/>
          <p:nvPr/>
        </p:nvSpPr>
        <p:spPr>
          <a:xfrm>
            <a:off x="8222285" y="2029968"/>
            <a:ext cx="566928" cy="566928"/>
          </a:xfrm>
          <a:prstGeom prst="ellipse">
            <a:avLst/>
          </a:prstGeom>
          <a:solidFill>
            <a:schemeClr val="accent1"/>
          </a:solidFill>
          <a:ln/>
        </p:spPr>
        <p:txBody>
          <a:bodyPr/>
          <a:lstStyle/>
          <a:p>
            <a:endParaRPr lang="en-US"/>
          </a:p>
        </p:txBody>
      </p:sp>
      <p:sp>
        <p:nvSpPr>
          <p:cNvPr id="26" name="Step 5 number"/>
          <p:cNvSpPr txBox="1"/>
          <p:nvPr/>
        </p:nvSpPr>
        <p:spPr>
          <a:xfrm>
            <a:off x="8222285"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05</a:t>
            </a:r>
            <a:endParaRPr lang="en-US" sz="1600" dirty="0"/>
          </a:p>
        </p:txBody>
      </p:sp>
      <p:sp>
        <p:nvSpPr>
          <p:cNvPr id="27" name="Step 5 name"/>
          <p:cNvSpPr txBox="1"/>
          <p:nvPr/>
        </p:nvSpPr>
        <p:spPr>
          <a:xfrm>
            <a:off x="8222285" y="2788920"/>
            <a:ext cx="1248613" cy="685800"/>
          </a:xfrm>
          <a:prstGeom prst="rect">
            <a:avLst/>
          </a:prstGeom>
          <a:noFill/>
          <a:ln/>
        </p:spPr>
        <p:txBody>
          <a:bodyPr wrap="square" lIns="0" tIns="0" rIns="0" bIns="0" rtlCol="0" anchor="t"/>
          <a:lstStyle/>
          <a:p>
            <a:pPr marL="0" indent="0">
              <a:buNone/>
            </a:pPr>
            <a:r>
              <a:rPr lang="en-US" sz="1700" b="1" dirty="0">
                <a:solidFill>
                  <a:schemeClr val="tx1"/>
                </a:solidFill>
              </a:rPr>
              <a:t>Contractors bid</a:t>
            </a:r>
            <a:endParaRPr lang="en-US" sz="1700" dirty="0"/>
          </a:p>
        </p:txBody>
      </p:sp>
      <p:sp>
        <p:nvSpPr>
          <p:cNvPr id="28" name="Step 5 text"/>
          <p:cNvSpPr txBox="1"/>
          <p:nvPr/>
        </p:nvSpPr>
        <p:spPr>
          <a:xfrm>
            <a:off x="8222285"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The desk approves one and issues a work order.</a:t>
            </a:r>
            <a:endParaRPr lang="en-US" sz="1400" dirty="0"/>
          </a:p>
        </p:txBody>
      </p:sp>
      <p:sp>
        <p:nvSpPr>
          <p:cNvPr id="29" name="Step 6 card"/>
          <p:cNvSpPr/>
          <p:nvPr/>
        </p:nvSpPr>
        <p:spPr>
          <a:xfrm>
            <a:off x="9854946" y="1828800"/>
            <a:ext cx="1650949" cy="2971800"/>
          </a:xfrm>
          <a:prstGeom prst="roundRect">
            <a:avLst>
              <a:gd name="adj" fmla="val 6646"/>
            </a:avLst>
          </a:prstGeom>
          <a:solidFill>
            <a:schemeClr val="tx1"/>
          </a:solidFill>
          <a:ln/>
        </p:spPr>
        <p:txBody>
          <a:bodyPr/>
          <a:lstStyle/>
          <a:p>
            <a:endParaRPr lang="en-US"/>
          </a:p>
        </p:txBody>
      </p:sp>
      <p:sp>
        <p:nvSpPr>
          <p:cNvPr id="30" name="Step 6 number circle"/>
          <p:cNvSpPr/>
          <p:nvPr/>
        </p:nvSpPr>
        <p:spPr>
          <a:xfrm>
            <a:off x="10056114" y="2029968"/>
            <a:ext cx="566928" cy="566928"/>
          </a:xfrm>
          <a:prstGeom prst="ellipse">
            <a:avLst/>
          </a:prstGeom>
          <a:solidFill>
            <a:schemeClr val="accent1"/>
          </a:solidFill>
          <a:ln/>
        </p:spPr>
        <p:txBody>
          <a:bodyPr/>
          <a:lstStyle/>
          <a:p>
            <a:endParaRPr lang="en-US"/>
          </a:p>
        </p:txBody>
      </p:sp>
      <p:sp>
        <p:nvSpPr>
          <p:cNvPr id="31" name="Step 6 number"/>
          <p:cNvSpPr txBox="1"/>
          <p:nvPr/>
        </p:nvSpPr>
        <p:spPr>
          <a:xfrm>
            <a:off x="10056114" y="2029968"/>
            <a:ext cx="566928" cy="566928"/>
          </a:xfrm>
          <a:prstGeom prst="rect">
            <a:avLst/>
          </a:prstGeom>
          <a:noFill/>
          <a:ln/>
        </p:spPr>
        <p:txBody>
          <a:bodyPr wrap="square" lIns="0" tIns="0" rIns="0" bIns="0" rtlCol="0" anchor="ctr"/>
          <a:lstStyle/>
          <a:p>
            <a:pPr marL="0" indent="0" algn="ctr">
              <a:buNone/>
            </a:pPr>
            <a:r>
              <a:rPr lang="en-US" sz="1600" b="1" dirty="0">
                <a:solidFill>
                  <a:schemeClr val="tx1"/>
                </a:solidFill>
              </a:rPr>
              <a:t>06</a:t>
            </a:r>
            <a:endParaRPr lang="en-US" sz="1600" dirty="0"/>
          </a:p>
        </p:txBody>
      </p:sp>
      <p:sp>
        <p:nvSpPr>
          <p:cNvPr id="32" name="Step 6 name"/>
          <p:cNvSpPr txBox="1"/>
          <p:nvPr/>
        </p:nvSpPr>
        <p:spPr>
          <a:xfrm>
            <a:off x="10056114" y="2788920"/>
            <a:ext cx="1248613" cy="685800"/>
          </a:xfrm>
          <a:prstGeom prst="rect">
            <a:avLst/>
          </a:prstGeom>
          <a:noFill/>
          <a:ln/>
        </p:spPr>
        <p:txBody>
          <a:bodyPr wrap="square" lIns="0" tIns="0" rIns="0" bIns="0" rtlCol="0" anchor="t"/>
          <a:lstStyle/>
          <a:p>
            <a:pPr marL="0" indent="0">
              <a:buNone/>
            </a:pPr>
            <a:r>
              <a:rPr lang="en-US" sz="1700" b="1" dirty="0">
                <a:solidFill>
                  <a:schemeClr val="accent5"/>
                </a:solidFill>
              </a:rPr>
              <a:t>Fixed &amp; published</a:t>
            </a:r>
            <a:endParaRPr lang="en-US" sz="1700" dirty="0"/>
          </a:p>
        </p:txBody>
      </p:sp>
      <p:sp>
        <p:nvSpPr>
          <p:cNvPr id="33" name="Step 6 text"/>
          <p:cNvSpPr txBox="1"/>
          <p:nvPr/>
        </p:nvSpPr>
        <p:spPr>
          <a:xfrm>
            <a:off x="10056114" y="3474720"/>
            <a:ext cx="1248613" cy="1234440"/>
          </a:xfrm>
          <a:prstGeom prst="rect">
            <a:avLst/>
          </a:prstGeom>
          <a:noFill/>
          <a:ln/>
        </p:spPr>
        <p:txBody>
          <a:bodyPr wrap="square" lIns="0" tIns="0" rIns="0" bIns="0" rtlCol="0" anchor="t"/>
          <a:lstStyle/>
          <a:p>
            <a:pPr marL="0" indent="0">
              <a:lnSpc>
                <a:spcPct val="110000"/>
              </a:lnSpc>
              <a:buNone/>
            </a:pPr>
            <a:r>
              <a:rPr lang="en-US" sz="1400" dirty="0">
                <a:solidFill>
                  <a:schemeClr val="accent6"/>
                </a:solidFill>
              </a:rPr>
              <a:t>Before/after photos go public as a success story.</a:t>
            </a:r>
            <a:endParaRPr lang="en-US" sz="1400" dirty="0"/>
          </a:p>
        </p:txBody>
      </p:sp>
      <p:sp>
        <p:nvSpPr>
          <p:cNvPr id="34" name="Timeline circle"/>
          <p:cNvSpPr/>
          <p:nvPr/>
        </p:nvSpPr>
        <p:spPr>
          <a:xfrm>
            <a:off x="685800" y="5166360"/>
            <a:ext cx="502920" cy="502920"/>
          </a:xfrm>
          <a:prstGeom prst="ellipse">
            <a:avLst/>
          </a:prstGeom>
          <a:solidFill>
            <a:schemeClr val="accent3"/>
          </a:solidFill>
          <a:ln/>
        </p:spPr>
        <p:txBody>
          <a:bodyPr/>
          <a:lstStyle/>
          <a:p>
            <a:endParaRPr lang="en-US"/>
          </a:p>
        </p:txBody>
      </p:sp>
      <p:pic>
        <p:nvPicPr>
          <p:cNvPr id="35" name="Timeline icon" descr="preencoded.png"/>
          <p:cNvPicPr>
            <a:picLocks noChangeAspect="1"/>
          </p:cNvPicPr>
          <p:nvPr/>
        </p:nvPicPr>
        <p:blipFill>
          <a:blip r:embed="rId3"/>
          <a:stretch>
            <a:fillRect/>
          </a:stretch>
        </p:blipFill>
        <p:spPr>
          <a:xfrm>
            <a:off x="806501" y="5287061"/>
            <a:ext cx="261518" cy="261518"/>
          </a:xfrm>
          <a:prstGeom prst="rect">
            <a:avLst/>
          </a:prstGeom>
        </p:spPr>
      </p:pic>
      <p:sp>
        <p:nvSpPr>
          <p:cNvPr id="36" name="Timeline text"/>
          <p:cNvSpPr txBox="1"/>
          <p:nvPr/>
        </p:nvSpPr>
        <p:spPr>
          <a:xfrm>
            <a:off x="1417320" y="5166360"/>
            <a:ext cx="10088575" cy="502920"/>
          </a:xfrm>
          <a:prstGeom prst="rect">
            <a:avLst/>
          </a:prstGeom>
          <a:noFill/>
          <a:ln/>
        </p:spPr>
        <p:txBody>
          <a:bodyPr wrap="square" lIns="0" tIns="0" rIns="0" bIns="0" rtlCol="0" anchor="ctr"/>
          <a:lstStyle/>
          <a:p>
            <a:pPr marL="0" indent="0">
              <a:buNone/>
            </a:pPr>
            <a:r>
              <a:rPr lang="en-US" sz="1800" dirty="0">
                <a:solidFill>
                  <a:schemeClr val="tx1"/>
                </a:solidFill>
              </a:rPr>
              <a:t>Every step is stamped on a </a:t>
            </a:r>
            <a:r>
              <a:rPr lang="en-US" sz="1800" b="1" dirty="0">
                <a:solidFill>
                  <a:schemeClr val="tx1"/>
                </a:solidFill>
              </a:rPr>
              <a:t>public timeline</a:t>
            </a:r>
            <a:r>
              <a:rPr lang="en-US" sz="1800" dirty="0">
                <a:solidFill>
                  <a:schemeClr val="tx1"/>
                </a:solidFill>
              </a:rPr>
              <a:t> — anyone can see where a repair is stuck.</a:t>
            </a:r>
            <a:endParaRPr lang="en-US" sz="1800" dirty="0"/>
          </a:p>
        </p:txBody>
      </p:sp>
      <p:sp>
        <p:nvSpPr>
          <p:cNvPr id="37"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1"/>
                </a:solidFill>
              </a:rPr>
              <a:t>INNOVATION · AI WHERE IT ADDS VALUE</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accent5"/>
                </a:solidFill>
              </a:rPr>
              <a:t>AI clears the queue, people decide</a:t>
            </a:r>
            <a:endParaRPr lang="en-US" sz="3600" dirty="0"/>
          </a:p>
        </p:txBody>
      </p:sp>
      <p:sp>
        <p:nvSpPr>
          <p:cNvPr id="4" name="Gate 1 card"/>
          <p:cNvSpPr/>
          <p:nvPr/>
        </p:nvSpPr>
        <p:spPr>
          <a:xfrm>
            <a:off x="685800" y="1828800"/>
            <a:ext cx="3423818" cy="3154680"/>
          </a:xfrm>
          <a:prstGeom prst="roundRect">
            <a:avLst>
              <a:gd name="adj" fmla="val 3478"/>
            </a:avLst>
          </a:prstGeom>
          <a:solidFill>
            <a:schemeClr val="accent4"/>
          </a:solidFill>
          <a:ln/>
        </p:spPr>
        <p:txBody>
          <a:bodyPr/>
          <a:lstStyle/>
          <a:p>
            <a:endParaRPr lang="en-US"/>
          </a:p>
        </p:txBody>
      </p:sp>
      <p:sp>
        <p:nvSpPr>
          <p:cNvPr id="5" name="Gate 1 label"/>
          <p:cNvSpPr txBox="1"/>
          <p:nvPr/>
        </p:nvSpPr>
        <p:spPr>
          <a:xfrm>
            <a:off x="960120" y="2057400"/>
            <a:ext cx="2875178"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GATE 1 · EVERY REPORT</a:t>
            </a:r>
            <a:endParaRPr lang="en-US" sz="1200" dirty="0"/>
          </a:p>
        </p:txBody>
      </p:sp>
      <p:sp>
        <p:nvSpPr>
          <p:cNvPr id="6" name="Gate 1 question"/>
          <p:cNvSpPr txBox="1"/>
          <p:nvPr/>
        </p:nvSpPr>
        <p:spPr>
          <a:xfrm>
            <a:off x="960120" y="2423160"/>
            <a:ext cx="2875178" cy="731520"/>
          </a:xfrm>
          <a:prstGeom prst="rect">
            <a:avLst/>
          </a:prstGeom>
          <a:noFill/>
          <a:ln/>
        </p:spPr>
        <p:txBody>
          <a:bodyPr wrap="square" lIns="0" tIns="0" rIns="0" bIns="0" rtlCol="0" anchor="t"/>
          <a:lstStyle/>
          <a:p>
            <a:pPr marL="0" indent="0">
              <a:buNone/>
            </a:pPr>
            <a:r>
              <a:rPr lang="en-US" sz="2100" b="1" dirty="0">
                <a:solidFill>
                  <a:schemeClr val="accent5"/>
                </a:solidFill>
              </a:rPr>
              <a:t>Is this a real public problem?</a:t>
            </a:r>
            <a:endParaRPr lang="en-US" sz="2100" dirty="0"/>
          </a:p>
        </p:txBody>
      </p:sp>
      <p:sp>
        <p:nvSpPr>
          <p:cNvPr id="7" name="Gate 1 text"/>
          <p:cNvSpPr txBox="1"/>
          <p:nvPr/>
        </p:nvSpPr>
        <p:spPr>
          <a:xfrm>
            <a:off x="960120" y="3200400"/>
            <a:ext cx="2875178" cy="1691640"/>
          </a:xfrm>
          <a:prstGeom prst="rect">
            <a:avLst/>
          </a:prstGeom>
          <a:noFill/>
          <a:ln/>
        </p:spPr>
        <p:txBody>
          <a:bodyPr wrap="square" lIns="0" tIns="0" rIns="0" bIns="0" rtlCol="0" anchor="t"/>
          <a:lstStyle/>
          <a:p>
            <a:pPr marL="0" indent="0">
              <a:lnSpc>
                <a:spcPct val="112000"/>
              </a:lnSpc>
              <a:buNone/>
            </a:pPr>
            <a:r>
              <a:rPr lang="en-US" sz="1500" dirty="0">
                <a:solidFill>
                  <a:schemeClr val="accent6"/>
                </a:solidFill>
              </a:rPr>
              <a:t>Gemma reads the photo and the text. Sure it's real (80%+): live instantly. Sure it's spam (90%+): closed, with appeal. Unsure: a human reviews.</a:t>
            </a:r>
            <a:endParaRPr lang="en-US" sz="1500" dirty="0"/>
          </a:p>
        </p:txBody>
      </p:sp>
      <p:sp>
        <p:nvSpPr>
          <p:cNvPr id="8" name="Gate 2 card"/>
          <p:cNvSpPr/>
          <p:nvPr/>
        </p:nvSpPr>
        <p:spPr>
          <a:xfrm>
            <a:off x="4383938" y="1828800"/>
            <a:ext cx="3423818" cy="3154680"/>
          </a:xfrm>
          <a:prstGeom prst="roundRect">
            <a:avLst>
              <a:gd name="adj" fmla="val 3478"/>
            </a:avLst>
          </a:prstGeom>
          <a:solidFill>
            <a:schemeClr val="accent4"/>
          </a:solidFill>
          <a:ln/>
        </p:spPr>
        <p:txBody>
          <a:bodyPr/>
          <a:lstStyle/>
          <a:p>
            <a:endParaRPr lang="en-US"/>
          </a:p>
        </p:txBody>
      </p:sp>
      <p:sp>
        <p:nvSpPr>
          <p:cNvPr id="9" name="Gate 2 label"/>
          <p:cNvSpPr txBox="1"/>
          <p:nvPr/>
        </p:nvSpPr>
        <p:spPr>
          <a:xfrm>
            <a:off x="4658258" y="2057400"/>
            <a:ext cx="2875178"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GATE 2 · BEFORE FUNDRAISING</a:t>
            </a:r>
            <a:endParaRPr lang="en-US" sz="1200" dirty="0"/>
          </a:p>
        </p:txBody>
      </p:sp>
      <p:sp>
        <p:nvSpPr>
          <p:cNvPr id="10" name="Gate 2 question"/>
          <p:cNvSpPr txBox="1"/>
          <p:nvPr/>
        </p:nvSpPr>
        <p:spPr>
          <a:xfrm>
            <a:off x="4658258" y="2423160"/>
            <a:ext cx="2875178" cy="731520"/>
          </a:xfrm>
          <a:prstGeom prst="rect">
            <a:avLst/>
          </a:prstGeom>
          <a:noFill/>
          <a:ln/>
        </p:spPr>
        <p:txBody>
          <a:bodyPr wrap="square" lIns="0" tIns="0" rIns="0" bIns="0" rtlCol="0" anchor="t"/>
          <a:lstStyle/>
          <a:p>
            <a:pPr marL="0" indent="0">
              <a:buNone/>
            </a:pPr>
            <a:r>
              <a:rPr lang="en-US" sz="2100" b="1" dirty="0">
                <a:solidFill>
                  <a:schemeClr val="accent5"/>
                </a:solidFill>
              </a:rPr>
              <a:t>Is the price fair?</a:t>
            </a:r>
            <a:endParaRPr lang="en-US" sz="2100" dirty="0"/>
          </a:p>
        </p:txBody>
      </p:sp>
      <p:sp>
        <p:nvSpPr>
          <p:cNvPr id="11" name="Gate 2 text"/>
          <p:cNvSpPr txBox="1"/>
          <p:nvPr/>
        </p:nvSpPr>
        <p:spPr>
          <a:xfrm>
            <a:off x="4658258" y="3200400"/>
            <a:ext cx="2875178" cy="1691640"/>
          </a:xfrm>
          <a:prstGeom prst="rect">
            <a:avLst/>
          </a:prstGeom>
          <a:noFill/>
          <a:ln/>
        </p:spPr>
        <p:txBody>
          <a:bodyPr wrap="square" lIns="0" tIns="0" rIns="0" bIns="0" rtlCol="0" anchor="t"/>
          <a:lstStyle/>
          <a:p>
            <a:pPr marL="0" indent="0">
              <a:lnSpc>
                <a:spcPct val="112000"/>
              </a:lnSpc>
              <a:buNone/>
            </a:pPr>
            <a:r>
              <a:rPr lang="en-US" sz="1500" dirty="0">
                <a:solidFill>
                  <a:schemeClr val="accent6"/>
                </a:solidFill>
              </a:rPr>
              <a:t>Before neighbours are asked for money, Gemma checks the city's estimate against typical Amman repair costs. Any override is logged publicly.</a:t>
            </a:r>
            <a:endParaRPr lang="en-US" sz="1500" dirty="0"/>
          </a:p>
        </p:txBody>
      </p:sp>
      <p:sp>
        <p:nvSpPr>
          <p:cNvPr id="12" name="Gate 3 card"/>
          <p:cNvSpPr/>
          <p:nvPr/>
        </p:nvSpPr>
        <p:spPr>
          <a:xfrm>
            <a:off x="8082077" y="1828800"/>
            <a:ext cx="3423818" cy="3154680"/>
          </a:xfrm>
          <a:prstGeom prst="roundRect">
            <a:avLst>
              <a:gd name="adj" fmla="val 3478"/>
            </a:avLst>
          </a:prstGeom>
          <a:solidFill>
            <a:schemeClr val="accent4"/>
          </a:solidFill>
          <a:ln/>
        </p:spPr>
        <p:txBody>
          <a:bodyPr/>
          <a:lstStyle/>
          <a:p>
            <a:endParaRPr lang="en-US"/>
          </a:p>
        </p:txBody>
      </p:sp>
      <p:sp>
        <p:nvSpPr>
          <p:cNvPr id="13" name="Gate 3 label"/>
          <p:cNvSpPr txBox="1"/>
          <p:nvPr/>
        </p:nvSpPr>
        <p:spPr>
          <a:xfrm>
            <a:off x="8356397" y="2057400"/>
            <a:ext cx="2875178"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GATE 3 · EVERY BID</a:t>
            </a:r>
            <a:endParaRPr lang="en-US" sz="1200" dirty="0"/>
          </a:p>
        </p:txBody>
      </p:sp>
      <p:sp>
        <p:nvSpPr>
          <p:cNvPr id="14" name="Gate 3 question"/>
          <p:cNvSpPr txBox="1"/>
          <p:nvPr/>
        </p:nvSpPr>
        <p:spPr>
          <a:xfrm>
            <a:off x="8356397" y="2423160"/>
            <a:ext cx="2875178" cy="731520"/>
          </a:xfrm>
          <a:prstGeom prst="rect">
            <a:avLst/>
          </a:prstGeom>
          <a:noFill/>
          <a:ln/>
        </p:spPr>
        <p:txBody>
          <a:bodyPr wrap="square" lIns="0" tIns="0" rIns="0" bIns="0" rtlCol="0" anchor="t"/>
          <a:lstStyle/>
          <a:p>
            <a:pPr marL="0" indent="0">
              <a:buNone/>
            </a:pPr>
            <a:r>
              <a:rPr lang="en-US" sz="2100" b="1" dirty="0">
                <a:solidFill>
                  <a:schemeClr val="accent5"/>
                </a:solidFill>
              </a:rPr>
              <a:t>Which contractor?</a:t>
            </a:r>
            <a:endParaRPr lang="en-US" sz="2100" dirty="0"/>
          </a:p>
        </p:txBody>
      </p:sp>
      <p:sp>
        <p:nvSpPr>
          <p:cNvPr id="15" name="Gate 3 text"/>
          <p:cNvSpPr txBox="1"/>
          <p:nvPr/>
        </p:nvSpPr>
        <p:spPr>
          <a:xfrm>
            <a:off x="8356397" y="3200400"/>
            <a:ext cx="2875178" cy="1691640"/>
          </a:xfrm>
          <a:prstGeom prst="rect">
            <a:avLst/>
          </a:prstGeom>
          <a:noFill/>
          <a:ln/>
        </p:spPr>
        <p:txBody>
          <a:bodyPr wrap="square" lIns="0" tIns="0" rIns="0" bIns="0" rtlCol="0" anchor="t"/>
          <a:lstStyle/>
          <a:p>
            <a:pPr marL="0" indent="0">
              <a:lnSpc>
                <a:spcPct val="112000"/>
              </a:lnSpc>
              <a:buNone/>
            </a:pPr>
            <a:r>
              <a:rPr lang="en-US" sz="1500" dirty="0">
                <a:solidFill>
                  <a:schemeClr val="accent6"/>
                </a:solidFill>
              </a:rPr>
              <a:t>Each bid gets a 0–100 score with reasons: price, timeline, method, track record. A human approves every job.</a:t>
            </a:r>
            <a:endParaRPr lang="en-US" sz="1500" dirty="0"/>
          </a:p>
        </p:txBody>
      </p:sp>
      <p:sp>
        <p:nvSpPr>
          <p:cNvPr id="16" name="Human control circle"/>
          <p:cNvSpPr/>
          <p:nvPr/>
        </p:nvSpPr>
        <p:spPr>
          <a:xfrm>
            <a:off x="685800" y="5303520"/>
            <a:ext cx="548640" cy="548640"/>
          </a:xfrm>
          <a:prstGeom prst="ellipse">
            <a:avLst/>
          </a:prstGeom>
          <a:solidFill>
            <a:schemeClr val="accent1"/>
          </a:solidFill>
          <a:ln/>
        </p:spPr>
        <p:txBody>
          <a:bodyPr/>
          <a:lstStyle/>
          <a:p>
            <a:endParaRPr lang="en-US"/>
          </a:p>
        </p:txBody>
      </p:sp>
      <p:pic>
        <p:nvPicPr>
          <p:cNvPr id="17" name="Human control icon" descr="preencoded.png"/>
          <p:cNvPicPr>
            <a:picLocks noChangeAspect="1"/>
          </p:cNvPicPr>
          <p:nvPr/>
        </p:nvPicPr>
        <p:blipFill>
          <a:blip r:embed="rId3"/>
          <a:stretch>
            <a:fillRect/>
          </a:stretch>
        </p:blipFill>
        <p:spPr>
          <a:xfrm>
            <a:off x="817474" y="5435194"/>
            <a:ext cx="285293" cy="285293"/>
          </a:xfrm>
          <a:prstGeom prst="rect">
            <a:avLst/>
          </a:prstGeom>
        </p:spPr>
      </p:pic>
      <p:sp>
        <p:nvSpPr>
          <p:cNvPr id="18" name="Human control text"/>
          <p:cNvSpPr txBox="1"/>
          <p:nvPr/>
        </p:nvSpPr>
        <p:spPr>
          <a:xfrm>
            <a:off x="1463040" y="5230368"/>
            <a:ext cx="10042855" cy="731520"/>
          </a:xfrm>
          <a:prstGeom prst="rect">
            <a:avLst/>
          </a:prstGeom>
          <a:noFill/>
          <a:ln/>
        </p:spPr>
        <p:txBody>
          <a:bodyPr wrap="square" lIns="0" tIns="0" rIns="0" bIns="0" rtlCol="0" anchor="ctr"/>
          <a:lstStyle/>
          <a:p>
            <a:pPr marL="0" indent="0">
              <a:buNone/>
            </a:pPr>
            <a:r>
              <a:rPr lang="en-US" sz="1700" dirty="0">
                <a:solidFill>
                  <a:schemeClr val="accent5"/>
                </a:solidFill>
              </a:rPr>
              <a:t>The AI never moves money and never awards work. It runs on the server, its key stays secret, and every decision it makes can be overridden.</a:t>
            </a:r>
            <a:endParaRPr lang="en-US" sz="17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INNOVATION · PUBLIC PROOF</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Every fix becomes a public receipt</a:t>
            </a:r>
            <a:endParaRPr lang="en-US" sz="3600" dirty="0"/>
          </a:p>
        </p:txBody>
      </p:sp>
      <p:sp>
        <p:nvSpPr>
          <p:cNvPr id="4" name="Proof intro"/>
          <p:cNvSpPr txBox="1"/>
          <p:nvPr/>
        </p:nvSpPr>
        <p:spPr>
          <a:xfrm>
            <a:off x="685800" y="1828800"/>
            <a:ext cx="4206240" cy="1097280"/>
          </a:xfrm>
          <a:prstGeom prst="rect">
            <a:avLst/>
          </a:prstGeom>
          <a:noFill/>
          <a:ln/>
        </p:spPr>
        <p:txBody>
          <a:bodyPr wrap="square" lIns="0" tIns="0" rIns="0" bIns="0" rtlCol="0" anchor="t"/>
          <a:lstStyle/>
          <a:p>
            <a:pPr marL="0" indent="0">
              <a:lnSpc>
                <a:spcPct val="112000"/>
              </a:lnSpc>
              <a:buNone/>
            </a:pPr>
            <a:r>
              <a:rPr lang="en-US" sz="1700" dirty="0">
                <a:solidFill>
                  <a:schemeClr val="tx2"/>
                </a:solidFill>
              </a:rPr>
              <a:t>Crowdfunding only works if people can check what happened. Each repair keeps its whole trail in the open:</a:t>
            </a:r>
            <a:endParaRPr lang="en-US" sz="1700" dirty="0"/>
          </a:p>
        </p:txBody>
      </p:sp>
      <p:sp>
        <p:nvSpPr>
          <p:cNvPr id="5" name="Proof 1 circle"/>
          <p:cNvSpPr/>
          <p:nvPr/>
        </p:nvSpPr>
        <p:spPr>
          <a:xfrm>
            <a:off x="685800" y="3063240"/>
            <a:ext cx="438912" cy="438912"/>
          </a:xfrm>
          <a:prstGeom prst="ellipse">
            <a:avLst/>
          </a:prstGeom>
          <a:solidFill>
            <a:schemeClr val="accent3"/>
          </a:solidFill>
          <a:ln/>
        </p:spPr>
        <p:txBody>
          <a:bodyPr/>
          <a:lstStyle/>
          <a:p>
            <a:endParaRPr lang="en-US"/>
          </a:p>
        </p:txBody>
      </p:sp>
      <p:pic>
        <p:nvPicPr>
          <p:cNvPr id="6" name="Proof 1 icon" descr="preencoded.png"/>
          <p:cNvPicPr>
            <a:picLocks noChangeAspect="1"/>
          </p:cNvPicPr>
          <p:nvPr/>
        </p:nvPicPr>
        <p:blipFill>
          <a:blip r:embed="rId3"/>
          <a:stretch>
            <a:fillRect/>
          </a:stretch>
        </p:blipFill>
        <p:spPr>
          <a:xfrm>
            <a:off x="791139" y="3168579"/>
            <a:ext cx="228234" cy="228234"/>
          </a:xfrm>
          <a:prstGeom prst="rect">
            <a:avLst/>
          </a:prstGeom>
        </p:spPr>
      </p:pic>
      <p:sp>
        <p:nvSpPr>
          <p:cNvPr id="7" name="Proof 1 text"/>
          <p:cNvSpPr txBox="1"/>
          <p:nvPr/>
        </p:nvSpPr>
        <p:spPr>
          <a:xfrm>
            <a:off x="1307592" y="3063240"/>
            <a:ext cx="3611880" cy="438912"/>
          </a:xfrm>
          <a:prstGeom prst="rect">
            <a:avLst/>
          </a:prstGeom>
          <a:noFill/>
          <a:ln/>
        </p:spPr>
        <p:txBody>
          <a:bodyPr wrap="square" lIns="0" tIns="0" rIns="0" bIns="0" rtlCol="0" anchor="ctr"/>
          <a:lstStyle/>
          <a:p>
            <a:pPr marL="0" indent="0">
              <a:buNone/>
            </a:pPr>
            <a:r>
              <a:rPr lang="en-US" sz="1600" dirty="0">
                <a:solidFill>
                  <a:schemeClr val="tx1"/>
                </a:solidFill>
              </a:rPr>
              <a:t>Status timeline on every report</a:t>
            </a:r>
            <a:endParaRPr lang="en-US" sz="1600" dirty="0"/>
          </a:p>
        </p:txBody>
      </p:sp>
      <p:sp>
        <p:nvSpPr>
          <p:cNvPr id="8" name="Proof 2 circle"/>
          <p:cNvSpPr/>
          <p:nvPr/>
        </p:nvSpPr>
        <p:spPr>
          <a:xfrm>
            <a:off x="685800" y="3749040"/>
            <a:ext cx="438912" cy="438912"/>
          </a:xfrm>
          <a:prstGeom prst="ellipse">
            <a:avLst/>
          </a:prstGeom>
          <a:solidFill>
            <a:schemeClr val="accent3"/>
          </a:solidFill>
          <a:ln/>
        </p:spPr>
        <p:txBody>
          <a:bodyPr/>
          <a:lstStyle/>
          <a:p>
            <a:endParaRPr lang="en-US"/>
          </a:p>
        </p:txBody>
      </p:sp>
      <p:pic>
        <p:nvPicPr>
          <p:cNvPr id="9" name="Proof 2 icon" descr="preencoded.png"/>
          <p:cNvPicPr>
            <a:picLocks noChangeAspect="1"/>
          </p:cNvPicPr>
          <p:nvPr/>
        </p:nvPicPr>
        <p:blipFill>
          <a:blip r:embed="rId3"/>
          <a:stretch>
            <a:fillRect/>
          </a:stretch>
        </p:blipFill>
        <p:spPr>
          <a:xfrm>
            <a:off x="791139" y="3854379"/>
            <a:ext cx="228234" cy="228234"/>
          </a:xfrm>
          <a:prstGeom prst="rect">
            <a:avLst/>
          </a:prstGeom>
        </p:spPr>
      </p:pic>
      <p:sp>
        <p:nvSpPr>
          <p:cNvPr id="10" name="Proof 2 text"/>
          <p:cNvSpPr txBox="1"/>
          <p:nvPr/>
        </p:nvSpPr>
        <p:spPr>
          <a:xfrm>
            <a:off x="1307592" y="3749040"/>
            <a:ext cx="3611880" cy="438912"/>
          </a:xfrm>
          <a:prstGeom prst="rect">
            <a:avLst/>
          </a:prstGeom>
          <a:noFill/>
          <a:ln/>
        </p:spPr>
        <p:txBody>
          <a:bodyPr wrap="square" lIns="0" tIns="0" rIns="0" bIns="0" rtlCol="0" anchor="ctr"/>
          <a:lstStyle/>
          <a:p>
            <a:pPr marL="0" indent="0">
              <a:buNone/>
            </a:pPr>
            <a:r>
              <a:rPr lang="en-US" sz="1600" dirty="0">
                <a:solidFill>
                  <a:schemeClr val="tx1"/>
                </a:solidFill>
              </a:rPr>
              <a:t>Donation ledger, anonymous donors hidden</a:t>
            </a:r>
            <a:endParaRPr lang="en-US" sz="1600" dirty="0"/>
          </a:p>
        </p:txBody>
      </p:sp>
      <p:sp>
        <p:nvSpPr>
          <p:cNvPr id="11" name="Proof 3 circle"/>
          <p:cNvSpPr/>
          <p:nvPr/>
        </p:nvSpPr>
        <p:spPr>
          <a:xfrm>
            <a:off x="685800" y="4434840"/>
            <a:ext cx="438912" cy="438912"/>
          </a:xfrm>
          <a:prstGeom prst="ellipse">
            <a:avLst/>
          </a:prstGeom>
          <a:solidFill>
            <a:schemeClr val="accent3"/>
          </a:solidFill>
          <a:ln/>
        </p:spPr>
        <p:txBody>
          <a:bodyPr/>
          <a:lstStyle/>
          <a:p>
            <a:endParaRPr lang="en-US"/>
          </a:p>
        </p:txBody>
      </p:sp>
      <p:pic>
        <p:nvPicPr>
          <p:cNvPr id="12" name="Proof 3 icon" descr="preencoded.png"/>
          <p:cNvPicPr>
            <a:picLocks noChangeAspect="1"/>
          </p:cNvPicPr>
          <p:nvPr/>
        </p:nvPicPr>
        <p:blipFill>
          <a:blip r:embed="rId3"/>
          <a:stretch>
            <a:fillRect/>
          </a:stretch>
        </p:blipFill>
        <p:spPr>
          <a:xfrm>
            <a:off x="791139" y="4540179"/>
            <a:ext cx="228234" cy="228234"/>
          </a:xfrm>
          <a:prstGeom prst="rect">
            <a:avLst/>
          </a:prstGeom>
        </p:spPr>
      </p:pic>
      <p:sp>
        <p:nvSpPr>
          <p:cNvPr id="13" name="Proof 3 text"/>
          <p:cNvSpPr txBox="1"/>
          <p:nvPr/>
        </p:nvSpPr>
        <p:spPr>
          <a:xfrm>
            <a:off x="1307592" y="4434840"/>
            <a:ext cx="3611880" cy="438912"/>
          </a:xfrm>
          <a:prstGeom prst="rect">
            <a:avLst/>
          </a:prstGeom>
          <a:noFill/>
          <a:ln/>
        </p:spPr>
        <p:txBody>
          <a:bodyPr wrap="square" lIns="0" tIns="0" rIns="0" bIns="0" rtlCol="0" anchor="ctr"/>
          <a:lstStyle/>
          <a:p>
            <a:pPr marL="0" indent="0">
              <a:buNone/>
            </a:pPr>
            <a:r>
              <a:rPr lang="en-US" sz="1600" dirty="0">
                <a:solidFill>
                  <a:schemeClr val="tx1"/>
                </a:solidFill>
              </a:rPr>
              <a:t>Named contractor and final cost</a:t>
            </a:r>
            <a:endParaRPr lang="en-US" sz="1600" dirty="0"/>
          </a:p>
        </p:txBody>
      </p:sp>
      <p:sp>
        <p:nvSpPr>
          <p:cNvPr id="14" name="Proof 4 circle"/>
          <p:cNvSpPr/>
          <p:nvPr/>
        </p:nvSpPr>
        <p:spPr>
          <a:xfrm>
            <a:off x="685800" y="5120640"/>
            <a:ext cx="438912" cy="438912"/>
          </a:xfrm>
          <a:prstGeom prst="ellipse">
            <a:avLst/>
          </a:prstGeom>
          <a:solidFill>
            <a:schemeClr val="accent3"/>
          </a:solidFill>
          <a:ln/>
        </p:spPr>
        <p:txBody>
          <a:bodyPr/>
          <a:lstStyle/>
          <a:p>
            <a:endParaRPr lang="en-US"/>
          </a:p>
        </p:txBody>
      </p:sp>
      <p:pic>
        <p:nvPicPr>
          <p:cNvPr id="15" name="Proof 4 icon" descr="preencoded.png"/>
          <p:cNvPicPr>
            <a:picLocks noChangeAspect="1"/>
          </p:cNvPicPr>
          <p:nvPr/>
        </p:nvPicPr>
        <p:blipFill>
          <a:blip r:embed="rId3"/>
          <a:stretch>
            <a:fillRect/>
          </a:stretch>
        </p:blipFill>
        <p:spPr>
          <a:xfrm>
            <a:off x="791139" y="5225979"/>
            <a:ext cx="228234" cy="228234"/>
          </a:xfrm>
          <a:prstGeom prst="rect">
            <a:avLst/>
          </a:prstGeom>
        </p:spPr>
      </p:pic>
      <p:sp>
        <p:nvSpPr>
          <p:cNvPr id="16" name="Proof 4 text"/>
          <p:cNvSpPr txBox="1"/>
          <p:nvPr/>
        </p:nvSpPr>
        <p:spPr>
          <a:xfrm>
            <a:off x="1307592" y="5120640"/>
            <a:ext cx="3611880" cy="438912"/>
          </a:xfrm>
          <a:prstGeom prst="rect">
            <a:avLst/>
          </a:prstGeom>
          <a:noFill/>
          <a:ln/>
        </p:spPr>
        <p:txBody>
          <a:bodyPr wrap="square" lIns="0" tIns="0" rIns="0" bIns="0" rtlCol="0" anchor="ctr"/>
          <a:lstStyle/>
          <a:p>
            <a:pPr marL="0" indent="0">
              <a:buNone/>
            </a:pPr>
            <a:r>
              <a:rPr lang="en-US" sz="1600" dirty="0">
                <a:solidFill>
                  <a:schemeClr val="tx1"/>
                </a:solidFill>
              </a:rPr>
              <a:t>Before and after photos</a:t>
            </a:r>
            <a:endParaRPr lang="en-US" sz="1600" dirty="0"/>
          </a:p>
        </p:txBody>
      </p:sp>
      <p:pic>
        <p:nvPicPr>
          <p:cNvPr id="17" name="Before photo" descr="Before: pothole filled with water and broken red reflectors"/>
          <p:cNvPicPr>
            <a:picLocks noChangeAspect="1"/>
          </p:cNvPicPr>
          <p:nvPr/>
        </p:nvPicPr>
        <p:blipFill>
          <a:blip r:embed="rId4"/>
          <a:stretch>
            <a:fillRect/>
          </a:stretch>
        </p:blipFill>
        <p:spPr>
          <a:xfrm>
            <a:off x="5242255" y="1828800"/>
            <a:ext cx="3017520" cy="3794760"/>
          </a:xfrm>
          <a:prstGeom prst="rect">
            <a:avLst/>
          </a:prstGeom>
        </p:spPr>
      </p:pic>
      <p:pic>
        <p:nvPicPr>
          <p:cNvPr id="18" name="After photo" descr="After: the same pothole filled with fresh asphalt"/>
          <p:cNvPicPr>
            <a:picLocks noChangeAspect="1"/>
          </p:cNvPicPr>
          <p:nvPr/>
        </p:nvPicPr>
        <p:blipFill>
          <a:blip r:embed="rId5"/>
          <a:stretch>
            <a:fillRect/>
          </a:stretch>
        </p:blipFill>
        <p:spPr>
          <a:xfrm>
            <a:off x="8488375" y="1828800"/>
            <a:ext cx="3017520" cy="3794760"/>
          </a:xfrm>
          <a:prstGeom prst="rect">
            <a:avLst/>
          </a:prstGeom>
        </p:spPr>
      </p:pic>
      <p:sp>
        <p:nvSpPr>
          <p:cNvPr id="19" name="Before caption"/>
          <p:cNvSpPr txBox="1"/>
          <p:nvPr/>
        </p:nvSpPr>
        <p:spPr>
          <a:xfrm>
            <a:off x="5242255" y="571500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Before — reported by a resident</a:t>
            </a:r>
            <a:endParaRPr lang="en-US" sz="1400" dirty="0"/>
          </a:p>
        </p:txBody>
      </p:sp>
      <p:sp>
        <p:nvSpPr>
          <p:cNvPr id="20" name="After caption"/>
          <p:cNvSpPr txBox="1"/>
          <p:nvPr/>
        </p:nvSpPr>
        <p:spPr>
          <a:xfrm>
            <a:off x="8488375" y="5715000"/>
            <a:ext cx="3017520" cy="320040"/>
          </a:xfrm>
          <a:prstGeom prst="rect">
            <a:avLst/>
          </a:prstGeom>
          <a:noFill/>
          <a:ln/>
        </p:spPr>
        <p:txBody>
          <a:bodyPr wrap="square" lIns="0" tIns="0" rIns="0" bIns="0" rtlCol="0" anchor="t"/>
          <a:lstStyle/>
          <a:p>
            <a:pPr marL="0" indent="0">
              <a:buNone/>
            </a:pPr>
            <a:r>
              <a:rPr lang="en-US" sz="1400" b="1" dirty="0">
                <a:solidFill>
                  <a:schemeClr val="accent3"/>
                </a:solidFill>
              </a:rPr>
              <a:t>After — signed off by the city</a:t>
            </a:r>
            <a:endParaRPr lang="en-US" sz="14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USER EXPERIENCE &amp; DESIGN</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Built for a phone, standing in the street</a:t>
            </a:r>
            <a:endParaRPr lang="en-US" sz="3600" dirty="0"/>
          </a:p>
        </p:txBody>
      </p:sp>
      <p:sp>
        <p:nvSpPr>
          <p:cNvPr id="4" name="Feed phone frame"/>
          <p:cNvSpPr/>
          <p:nvPr/>
        </p:nvSpPr>
        <p:spPr>
          <a:xfrm>
            <a:off x="685800" y="1828800"/>
            <a:ext cx="1600200" cy="3310128"/>
          </a:xfrm>
          <a:prstGeom prst="roundRect">
            <a:avLst>
              <a:gd name="adj" fmla="val 10286"/>
            </a:avLst>
          </a:prstGeom>
          <a:solidFill>
            <a:schemeClr val="tx1"/>
          </a:solidFill>
          <a:ln/>
        </p:spPr>
        <p:txBody>
          <a:bodyPr/>
          <a:lstStyle/>
          <a:p>
            <a:endParaRPr lang="en-US"/>
          </a:p>
        </p:txBody>
      </p:sp>
      <p:pic>
        <p:nvPicPr>
          <p:cNvPr id="5" name="Feed screenshot" descr="Feed of reports in Amman with filters"/>
          <p:cNvPicPr>
            <a:picLocks noChangeAspect="1"/>
          </p:cNvPicPr>
          <p:nvPr/>
        </p:nvPicPr>
        <p:blipFill>
          <a:blip r:embed="rId3"/>
          <a:stretch>
            <a:fillRect/>
          </a:stretch>
        </p:blipFill>
        <p:spPr>
          <a:xfrm>
            <a:off x="749808" y="1890885"/>
            <a:ext cx="1472184" cy="3185957"/>
          </a:xfrm>
          <a:prstGeom prst="rect">
            <a:avLst/>
          </a:prstGeom>
        </p:spPr>
      </p:pic>
      <p:sp>
        <p:nvSpPr>
          <p:cNvPr id="6" name="Feed caption"/>
          <p:cNvSpPr txBox="1"/>
          <p:nvPr/>
        </p:nvSpPr>
        <p:spPr>
          <a:xfrm>
            <a:off x="685800" y="5257800"/>
            <a:ext cx="1600200" cy="320040"/>
          </a:xfrm>
          <a:prstGeom prst="rect">
            <a:avLst/>
          </a:prstGeom>
          <a:noFill/>
          <a:ln/>
        </p:spPr>
        <p:txBody>
          <a:bodyPr wrap="square" lIns="0" tIns="0" rIns="0" bIns="0" rtlCol="0" anchor="t"/>
          <a:lstStyle/>
          <a:p>
            <a:pPr marL="0" indent="0" algn="ctr">
              <a:buNone/>
            </a:pPr>
            <a:r>
              <a:rPr lang="en-US" sz="1400" b="1" dirty="0">
                <a:solidFill>
                  <a:schemeClr val="tx2"/>
                </a:solidFill>
              </a:rPr>
              <a:t>Feed</a:t>
            </a:r>
            <a:endParaRPr lang="en-US" sz="1400" dirty="0"/>
          </a:p>
        </p:txBody>
      </p:sp>
      <p:sp>
        <p:nvSpPr>
          <p:cNvPr id="7" name="Report phone frame"/>
          <p:cNvSpPr/>
          <p:nvPr/>
        </p:nvSpPr>
        <p:spPr>
          <a:xfrm>
            <a:off x="2505456" y="1828800"/>
            <a:ext cx="1600200" cy="3310128"/>
          </a:xfrm>
          <a:prstGeom prst="roundRect">
            <a:avLst>
              <a:gd name="adj" fmla="val 10286"/>
            </a:avLst>
          </a:prstGeom>
          <a:solidFill>
            <a:schemeClr val="tx1"/>
          </a:solidFill>
          <a:ln/>
        </p:spPr>
        <p:txBody>
          <a:bodyPr/>
          <a:lstStyle/>
          <a:p>
            <a:endParaRPr lang="en-US"/>
          </a:p>
        </p:txBody>
      </p:sp>
      <p:pic>
        <p:nvPicPr>
          <p:cNvPr id="8" name="Report screenshot" descr="A report with photo, GPS pin and five-step tracker"/>
          <p:cNvPicPr>
            <a:picLocks noChangeAspect="1"/>
          </p:cNvPicPr>
          <p:nvPr/>
        </p:nvPicPr>
        <p:blipFill>
          <a:blip r:embed="rId4"/>
          <a:stretch>
            <a:fillRect/>
          </a:stretch>
        </p:blipFill>
        <p:spPr>
          <a:xfrm>
            <a:off x="2569464" y="1890885"/>
            <a:ext cx="1472184" cy="3185957"/>
          </a:xfrm>
          <a:prstGeom prst="rect">
            <a:avLst/>
          </a:prstGeom>
        </p:spPr>
      </p:pic>
      <p:sp>
        <p:nvSpPr>
          <p:cNvPr id="9" name="Report caption"/>
          <p:cNvSpPr txBox="1"/>
          <p:nvPr/>
        </p:nvSpPr>
        <p:spPr>
          <a:xfrm>
            <a:off x="2505456" y="5257800"/>
            <a:ext cx="1600200" cy="320040"/>
          </a:xfrm>
          <a:prstGeom prst="rect">
            <a:avLst/>
          </a:prstGeom>
          <a:noFill/>
          <a:ln/>
        </p:spPr>
        <p:txBody>
          <a:bodyPr wrap="square" lIns="0" tIns="0" rIns="0" bIns="0" rtlCol="0" anchor="t"/>
          <a:lstStyle/>
          <a:p>
            <a:pPr marL="0" indent="0" algn="ctr">
              <a:buNone/>
            </a:pPr>
            <a:r>
              <a:rPr lang="en-US" sz="1400" b="1" dirty="0">
                <a:solidFill>
                  <a:schemeClr val="tx2"/>
                </a:solidFill>
              </a:rPr>
              <a:t>Report</a:t>
            </a:r>
            <a:endParaRPr lang="en-US" sz="1400" dirty="0"/>
          </a:p>
        </p:txBody>
      </p:sp>
      <p:sp>
        <p:nvSpPr>
          <p:cNvPr id="10" name="Map phone frame"/>
          <p:cNvSpPr/>
          <p:nvPr/>
        </p:nvSpPr>
        <p:spPr>
          <a:xfrm>
            <a:off x="4325112" y="1828800"/>
            <a:ext cx="1600200" cy="3310128"/>
          </a:xfrm>
          <a:prstGeom prst="roundRect">
            <a:avLst>
              <a:gd name="adj" fmla="val 10286"/>
            </a:avLst>
          </a:prstGeom>
          <a:solidFill>
            <a:schemeClr val="tx1"/>
          </a:solidFill>
          <a:ln/>
        </p:spPr>
        <p:txBody>
          <a:bodyPr/>
          <a:lstStyle/>
          <a:p>
            <a:endParaRPr lang="en-US"/>
          </a:p>
        </p:txBody>
      </p:sp>
      <p:pic>
        <p:nvPicPr>
          <p:cNvPr id="11" name="Map screenshot" descr="Map of Amman with colour-coded report pins"/>
          <p:cNvPicPr>
            <a:picLocks noChangeAspect="1"/>
          </p:cNvPicPr>
          <p:nvPr/>
        </p:nvPicPr>
        <p:blipFill>
          <a:blip r:embed="rId5"/>
          <a:stretch>
            <a:fillRect/>
          </a:stretch>
        </p:blipFill>
        <p:spPr>
          <a:xfrm>
            <a:off x="4389120" y="1890885"/>
            <a:ext cx="1472184" cy="3185957"/>
          </a:xfrm>
          <a:prstGeom prst="rect">
            <a:avLst/>
          </a:prstGeom>
        </p:spPr>
      </p:pic>
      <p:sp>
        <p:nvSpPr>
          <p:cNvPr id="12" name="Map caption"/>
          <p:cNvSpPr txBox="1"/>
          <p:nvPr/>
        </p:nvSpPr>
        <p:spPr>
          <a:xfrm>
            <a:off x="4325112" y="5257800"/>
            <a:ext cx="1600200" cy="320040"/>
          </a:xfrm>
          <a:prstGeom prst="rect">
            <a:avLst/>
          </a:prstGeom>
          <a:noFill/>
          <a:ln/>
        </p:spPr>
        <p:txBody>
          <a:bodyPr wrap="square" lIns="0" tIns="0" rIns="0" bIns="0" rtlCol="0" anchor="t"/>
          <a:lstStyle/>
          <a:p>
            <a:pPr marL="0" indent="0" algn="ctr">
              <a:buNone/>
            </a:pPr>
            <a:r>
              <a:rPr lang="en-US" sz="1400" b="1" dirty="0">
                <a:solidFill>
                  <a:schemeClr val="tx2"/>
                </a:solidFill>
              </a:rPr>
              <a:t>Map</a:t>
            </a:r>
            <a:endParaRPr lang="en-US" sz="1400" dirty="0"/>
          </a:p>
        </p:txBody>
      </p:sp>
      <p:sp>
        <p:nvSpPr>
          <p:cNvPr id="13" name="Fixed phone frame"/>
          <p:cNvSpPr/>
          <p:nvPr/>
        </p:nvSpPr>
        <p:spPr>
          <a:xfrm>
            <a:off x="6144768" y="1828800"/>
            <a:ext cx="1600200" cy="3310128"/>
          </a:xfrm>
          <a:prstGeom prst="roundRect">
            <a:avLst>
              <a:gd name="adj" fmla="val 10286"/>
            </a:avLst>
          </a:prstGeom>
          <a:solidFill>
            <a:schemeClr val="tx1"/>
          </a:solidFill>
          <a:ln/>
        </p:spPr>
        <p:txBody>
          <a:bodyPr/>
          <a:lstStyle/>
          <a:p>
            <a:endParaRPr lang="en-US"/>
          </a:p>
        </p:txBody>
      </p:sp>
      <p:pic>
        <p:nvPicPr>
          <p:cNvPr id="14" name="Fixed screenshot" descr="Success story with before and after slider"/>
          <p:cNvPicPr>
            <a:picLocks noChangeAspect="1"/>
          </p:cNvPicPr>
          <p:nvPr/>
        </p:nvPicPr>
        <p:blipFill>
          <a:blip r:embed="rId6"/>
          <a:stretch>
            <a:fillRect/>
          </a:stretch>
        </p:blipFill>
        <p:spPr>
          <a:xfrm>
            <a:off x="6208776" y="1890885"/>
            <a:ext cx="1472184" cy="3185957"/>
          </a:xfrm>
          <a:prstGeom prst="rect">
            <a:avLst/>
          </a:prstGeom>
        </p:spPr>
      </p:pic>
      <p:sp>
        <p:nvSpPr>
          <p:cNvPr id="15" name="Fixed caption"/>
          <p:cNvSpPr txBox="1"/>
          <p:nvPr/>
        </p:nvSpPr>
        <p:spPr>
          <a:xfrm>
            <a:off x="6144768" y="5257800"/>
            <a:ext cx="1600200" cy="320040"/>
          </a:xfrm>
          <a:prstGeom prst="rect">
            <a:avLst/>
          </a:prstGeom>
          <a:noFill/>
          <a:ln/>
        </p:spPr>
        <p:txBody>
          <a:bodyPr wrap="square" lIns="0" tIns="0" rIns="0" bIns="0" rtlCol="0" anchor="t"/>
          <a:lstStyle/>
          <a:p>
            <a:pPr marL="0" indent="0" algn="ctr">
              <a:buNone/>
            </a:pPr>
            <a:r>
              <a:rPr lang="en-US" sz="1400" b="1" dirty="0">
                <a:solidFill>
                  <a:schemeClr val="tx2"/>
                </a:solidFill>
              </a:rPr>
              <a:t>Fixed</a:t>
            </a:r>
            <a:endParaRPr lang="en-US" sz="1400" dirty="0"/>
          </a:p>
        </p:txBody>
      </p:sp>
      <p:sp>
        <p:nvSpPr>
          <p:cNvPr id="16" name="UX point 1 title"/>
          <p:cNvSpPr txBox="1"/>
          <p:nvPr/>
        </p:nvSpPr>
        <p:spPr>
          <a:xfrm>
            <a:off x="8156448" y="1828800"/>
            <a:ext cx="3349447" cy="365760"/>
          </a:xfrm>
          <a:prstGeom prst="rect">
            <a:avLst/>
          </a:prstGeom>
          <a:noFill/>
          <a:ln/>
        </p:spPr>
        <p:txBody>
          <a:bodyPr wrap="square" lIns="0" tIns="0" rIns="0" bIns="0" rtlCol="0" anchor="t"/>
          <a:lstStyle/>
          <a:p>
            <a:pPr marL="0" indent="0">
              <a:buNone/>
            </a:pPr>
            <a:r>
              <a:rPr lang="en-US" sz="1800" b="1" dirty="0">
                <a:solidFill>
                  <a:srgbClr val="0070C0"/>
                </a:solidFill>
              </a:rPr>
              <a:t>Report in 4 steps</a:t>
            </a:r>
            <a:endParaRPr lang="en-US" sz="1800" dirty="0">
              <a:solidFill>
                <a:srgbClr val="0070C0"/>
              </a:solidFill>
            </a:endParaRPr>
          </a:p>
        </p:txBody>
      </p:sp>
      <p:sp>
        <p:nvSpPr>
          <p:cNvPr id="17" name="UX point 1 text"/>
          <p:cNvSpPr txBox="1"/>
          <p:nvPr/>
        </p:nvSpPr>
        <p:spPr>
          <a:xfrm>
            <a:off x="8156448" y="2212848"/>
            <a:ext cx="3349447" cy="73152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Photo → GPS pin → describe → AI check. Camera and location come from the phone.</a:t>
            </a:r>
            <a:endParaRPr lang="en-US" sz="1400" dirty="0"/>
          </a:p>
        </p:txBody>
      </p:sp>
      <p:sp>
        <p:nvSpPr>
          <p:cNvPr id="18" name="UX point 2 title"/>
          <p:cNvSpPr txBox="1"/>
          <p:nvPr/>
        </p:nvSpPr>
        <p:spPr>
          <a:xfrm>
            <a:off x="8156448" y="3017520"/>
            <a:ext cx="3349447" cy="365760"/>
          </a:xfrm>
          <a:prstGeom prst="rect">
            <a:avLst/>
          </a:prstGeom>
          <a:noFill/>
          <a:ln/>
        </p:spPr>
        <p:txBody>
          <a:bodyPr wrap="square" lIns="0" tIns="0" rIns="0" bIns="0" rtlCol="0" anchor="t"/>
          <a:lstStyle/>
          <a:p>
            <a:pPr marL="0" indent="0">
              <a:buNone/>
            </a:pPr>
            <a:r>
              <a:rPr lang="en-US" sz="1800" b="1" dirty="0">
                <a:solidFill>
                  <a:schemeClr val="tx1"/>
                </a:solidFill>
              </a:rPr>
              <a:t>Three roles, one app</a:t>
            </a:r>
            <a:endParaRPr lang="en-US" sz="1800" dirty="0"/>
          </a:p>
        </p:txBody>
      </p:sp>
      <p:sp>
        <p:nvSpPr>
          <p:cNvPr id="19" name="UX point 2 text"/>
          <p:cNvSpPr txBox="1"/>
          <p:nvPr/>
        </p:nvSpPr>
        <p:spPr>
          <a:xfrm>
            <a:off x="8156448" y="3401568"/>
            <a:ext cx="3349447" cy="73152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Resident, municipal desk and contractor each get their own tools.</a:t>
            </a:r>
            <a:endParaRPr lang="en-US" sz="1400" dirty="0"/>
          </a:p>
        </p:txBody>
      </p:sp>
      <p:sp>
        <p:nvSpPr>
          <p:cNvPr id="20" name="UX point 3 title"/>
          <p:cNvSpPr txBox="1"/>
          <p:nvPr/>
        </p:nvSpPr>
        <p:spPr>
          <a:xfrm>
            <a:off x="8156448" y="4206240"/>
            <a:ext cx="3349447" cy="365760"/>
          </a:xfrm>
          <a:prstGeom prst="rect">
            <a:avLst/>
          </a:prstGeom>
          <a:noFill/>
          <a:ln/>
        </p:spPr>
        <p:txBody>
          <a:bodyPr wrap="square" lIns="0" tIns="0" rIns="0" bIns="0" rtlCol="0" anchor="t"/>
          <a:lstStyle/>
          <a:p>
            <a:pPr marL="0" indent="0">
              <a:buNone/>
            </a:pPr>
            <a:r>
              <a:rPr lang="en-US" sz="1800" b="1" dirty="0">
                <a:solidFill>
                  <a:schemeClr val="tx1"/>
                </a:solidFill>
              </a:rPr>
              <a:t>Plain status, not jargon</a:t>
            </a:r>
            <a:endParaRPr lang="en-US" sz="1800" dirty="0"/>
          </a:p>
        </p:txBody>
      </p:sp>
      <p:sp>
        <p:nvSpPr>
          <p:cNvPr id="21" name="UX point 3 text"/>
          <p:cNvSpPr txBox="1"/>
          <p:nvPr/>
        </p:nvSpPr>
        <p:spPr>
          <a:xfrm>
            <a:off x="8156448" y="4590288"/>
            <a:ext cx="3349447" cy="731520"/>
          </a:xfrm>
          <a:prstGeom prst="rect">
            <a:avLst/>
          </a:prstGeom>
          <a:noFill/>
          <a:ln/>
        </p:spPr>
        <p:txBody>
          <a:bodyPr wrap="square" lIns="0" tIns="0" rIns="0" bIns="0" rtlCol="0" anchor="t"/>
          <a:lstStyle/>
          <a:p>
            <a:pPr marL="0" indent="0">
              <a:lnSpc>
                <a:spcPct val="110000"/>
              </a:lnSpc>
              <a:buNone/>
            </a:pPr>
            <a:r>
              <a:rPr lang="en-US" sz="1400" dirty="0">
                <a:solidFill>
                  <a:schemeClr val="tx2"/>
                </a:solidFill>
              </a:rPr>
              <a:t>Review → Funding → Assigned → Working → Fixed, on every report.</a:t>
            </a:r>
            <a:endParaRPr lang="en-US" sz="1400" dirty="0"/>
          </a:p>
        </p:txBody>
      </p:sp>
      <p:sp>
        <p:nvSpPr>
          <p:cNvPr id="22" name="Screens note"/>
          <p:cNvSpPr txBox="1"/>
          <p:nvPr/>
        </p:nvSpPr>
        <p:spPr>
          <a:xfrm>
            <a:off x="8156448" y="5257800"/>
            <a:ext cx="3349447" cy="320040"/>
          </a:xfrm>
          <a:prstGeom prst="rect">
            <a:avLst/>
          </a:prstGeom>
          <a:noFill/>
          <a:ln/>
        </p:spPr>
        <p:txBody>
          <a:bodyPr wrap="square" lIns="0" tIns="0" rIns="0" bIns="0" rtlCol="0" anchor="t"/>
          <a:lstStyle/>
          <a:p>
            <a:pPr marL="0" indent="0">
              <a:buNone/>
            </a:pPr>
            <a:r>
              <a:rPr lang="en-US" sz="1200" i="1" dirty="0">
                <a:solidFill>
                  <a:schemeClr val="tx2"/>
                </a:solidFill>
              </a:rPr>
              <a:t>Real screens from the live app</a:t>
            </a:r>
            <a:endParaRPr lang="en-US" sz="1200" dirty="0"/>
          </a:p>
        </p:txBody>
      </p:sp>
      <p:sp>
        <p:nvSpPr>
          <p:cNvPr id="25"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502920"/>
            <a:ext cx="10820095" cy="320040"/>
          </a:xfrm>
          <a:prstGeom prst="rect">
            <a:avLst/>
          </a:prstGeom>
          <a:noFill/>
          <a:ln/>
        </p:spPr>
        <p:txBody>
          <a:bodyPr wrap="square" lIns="0" tIns="0" rIns="0" bIns="0" rtlCol="0" anchor="t"/>
          <a:lstStyle/>
          <a:p>
            <a:pPr marL="0" indent="0">
              <a:buNone/>
            </a:pPr>
            <a:r>
              <a:rPr lang="en-US" sz="1300" b="1" kern="0" spc="300" dirty="0">
                <a:solidFill>
                  <a:schemeClr val="accent2"/>
                </a:solidFill>
              </a:rPr>
              <a:t>TECHNICAL IMPLEMENTATION</a:t>
            </a:r>
            <a:endParaRPr lang="en-US" sz="1300" dirty="0"/>
          </a:p>
        </p:txBody>
      </p:sp>
      <p:sp>
        <p:nvSpPr>
          <p:cNvPr id="3" name="Text 0"/>
          <p:cNvSpPr>
            <a:spLocks noGrp="1"/>
          </p:cNvSpPr>
          <p:nvPr>
            <p:ph type="title" idx="101" hasCustomPrompt="1"/>
          </p:nvPr>
        </p:nvSpPr>
        <p:spPr>
          <a:xfrm>
            <a:off x="685800" y="822960"/>
            <a:ext cx="10820095" cy="731520"/>
          </a:xfrm>
          <a:prstGeom prst="rect">
            <a:avLst/>
          </a:prstGeom>
          <a:noFill/>
          <a:ln/>
        </p:spPr>
        <p:txBody>
          <a:bodyPr wrap="square" lIns="0" tIns="0" rIns="0" bIns="0" rtlCol="0" anchor="t"/>
          <a:lstStyle/>
          <a:p>
            <a:pPr marL="0" indent="0" algn="l">
              <a:buNone/>
            </a:pPr>
            <a:r>
              <a:rPr lang="en-US" sz="3600" b="1" dirty="0">
                <a:solidFill>
                  <a:schemeClr val="tx1"/>
                </a:solidFill>
              </a:rPr>
              <a:t>A real stack, rules in the database</a:t>
            </a:r>
            <a:endParaRPr lang="en-US" sz="3600" dirty="0"/>
          </a:p>
        </p:txBody>
      </p:sp>
      <p:sp>
        <p:nvSpPr>
          <p:cNvPr id="4" name="Phone box"/>
          <p:cNvSpPr/>
          <p:nvPr/>
        </p:nvSpPr>
        <p:spPr>
          <a:xfrm>
            <a:off x="685800" y="1874520"/>
            <a:ext cx="2011680" cy="1600200"/>
          </a:xfrm>
          <a:prstGeom prst="roundRect">
            <a:avLst>
              <a:gd name="adj" fmla="val 6857"/>
            </a:avLst>
          </a:prstGeom>
          <a:solidFill>
            <a:schemeClr val="bg1"/>
          </a:solidFill>
          <a:ln w="19050">
            <a:solidFill>
              <a:schemeClr val="tx1"/>
            </a:solidFill>
            <a:prstDash val="solid"/>
          </a:ln>
        </p:spPr>
        <p:txBody>
          <a:bodyPr/>
          <a:lstStyle/>
          <a:p>
            <a:endParaRPr lang="en-US"/>
          </a:p>
        </p:txBody>
      </p:sp>
      <p:sp>
        <p:nvSpPr>
          <p:cNvPr id="5" name="Phone title"/>
          <p:cNvSpPr txBox="1"/>
          <p:nvPr/>
        </p:nvSpPr>
        <p:spPr>
          <a:xfrm>
            <a:off x="914400" y="2148840"/>
            <a:ext cx="1554480" cy="411480"/>
          </a:xfrm>
          <a:prstGeom prst="rect">
            <a:avLst/>
          </a:prstGeom>
          <a:noFill/>
          <a:ln/>
        </p:spPr>
        <p:txBody>
          <a:bodyPr wrap="square" lIns="0" tIns="0" rIns="0" bIns="0" rtlCol="0" anchor="t"/>
          <a:lstStyle/>
          <a:p>
            <a:pPr marL="0" indent="0">
              <a:buNone/>
            </a:pPr>
            <a:r>
              <a:rPr lang="en-US" sz="1700" b="1" dirty="0">
                <a:solidFill>
                  <a:schemeClr val="tx1"/>
                </a:solidFill>
              </a:rPr>
              <a:t>Phone browser</a:t>
            </a:r>
            <a:endParaRPr lang="en-US" sz="1700" dirty="0"/>
          </a:p>
        </p:txBody>
      </p:sp>
      <p:sp>
        <p:nvSpPr>
          <p:cNvPr id="6" name="Phone text"/>
          <p:cNvSpPr txBox="1"/>
          <p:nvPr/>
        </p:nvSpPr>
        <p:spPr>
          <a:xfrm>
            <a:off x="914400" y="2606040"/>
            <a:ext cx="1554480" cy="731520"/>
          </a:xfrm>
          <a:prstGeom prst="rect">
            <a:avLst/>
          </a:prstGeom>
          <a:noFill/>
          <a:ln/>
        </p:spPr>
        <p:txBody>
          <a:bodyPr wrap="square" lIns="0" tIns="0" rIns="0" bIns="0" rtlCol="0" anchor="t"/>
          <a:lstStyle/>
          <a:p>
            <a:pPr marL="0" indent="0">
              <a:buNone/>
            </a:pPr>
            <a:r>
              <a:rPr lang="en-US" sz="1400" dirty="0">
                <a:solidFill>
                  <a:schemeClr val="tx2"/>
                </a:solidFill>
              </a:rPr>
              <a:t>React 19 + TypeScript web app</a:t>
            </a:r>
            <a:endParaRPr lang="en-US" sz="1400" dirty="0"/>
          </a:p>
        </p:txBody>
      </p:sp>
      <p:pic>
        <p:nvPicPr>
          <p:cNvPr id="7" name="Flow arrow" descr="then"/>
          <p:cNvPicPr>
            <a:picLocks noChangeAspect="1"/>
          </p:cNvPicPr>
          <p:nvPr/>
        </p:nvPicPr>
        <p:blipFill>
          <a:blip r:embed="rId3"/>
          <a:stretch>
            <a:fillRect/>
          </a:stretch>
        </p:blipFill>
        <p:spPr>
          <a:xfrm>
            <a:off x="2834640" y="2491740"/>
            <a:ext cx="365760" cy="365760"/>
          </a:xfrm>
          <a:prstGeom prst="rect">
            <a:avLst/>
          </a:prstGeom>
        </p:spPr>
      </p:pic>
      <p:sp>
        <p:nvSpPr>
          <p:cNvPr id="8" name="Supabase box"/>
          <p:cNvSpPr/>
          <p:nvPr/>
        </p:nvSpPr>
        <p:spPr>
          <a:xfrm>
            <a:off x="3337560" y="1874520"/>
            <a:ext cx="3566160" cy="1600200"/>
          </a:xfrm>
          <a:prstGeom prst="roundRect">
            <a:avLst>
              <a:gd name="adj" fmla="val 6857"/>
            </a:avLst>
          </a:prstGeom>
          <a:solidFill>
            <a:schemeClr val="tx1"/>
          </a:solidFill>
          <a:ln/>
        </p:spPr>
        <p:txBody>
          <a:bodyPr/>
          <a:lstStyle/>
          <a:p>
            <a:endParaRPr lang="en-US"/>
          </a:p>
        </p:txBody>
      </p:sp>
      <p:sp>
        <p:nvSpPr>
          <p:cNvPr id="9" name="Supabase title"/>
          <p:cNvSpPr txBox="1"/>
          <p:nvPr/>
        </p:nvSpPr>
        <p:spPr>
          <a:xfrm>
            <a:off x="3566160" y="2057400"/>
            <a:ext cx="3108960" cy="365760"/>
          </a:xfrm>
          <a:prstGeom prst="rect">
            <a:avLst/>
          </a:prstGeom>
          <a:noFill/>
          <a:ln/>
        </p:spPr>
        <p:txBody>
          <a:bodyPr wrap="square" lIns="0" tIns="0" rIns="0" bIns="0" rtlCol="0" anchor="t"/>
          <a:lstStyle/>
          <a:p>
            <a:pPr marL="0" indent="0">
              <a:buNone/>
            </a:pPr>
            <a:r>
              <a:rPr lang="en-US" sz="1700" b="1" dirty="0">
                <a:solidFill>
                  <a:schemeClr val="accent1"/>
                </a:solidFill>
              </a:rPr>
              <a:t>Supabase</a:t>
            </a:r>
            <a:endParaRPr lang="en-US" sz="1700" dirty="0"/>
          </a:p>
        </p:txBody>
      </p:sp>
      <p:sp>
        <p:nvSpPr>
          <p:cNvPr id="10" name="Postgres + RLS chip"/>
          <p:cNvSpPr/>
          <p:nvPr/>
        </p:nvSpPr>
        <p:spPr>
          <a:xfrm>
            <a:off x="3566160" y="2532888"/>
            <a:ext cx="1508760" cy="365760"/>
          </a:xfrm>
          <a:prstGeom prst="roundRect">
            <a:avLst>
              <a:gd name="adj" fmla="val 30000"/>
            </a:avLst>
          </a:prstGeom>
          <a:solidFill>
            <a:schemeClr val="accent5"/>
          </a:solidFill>
          <a:ln/>
        </p:spPr>
        <p:txBody>
          <a:bodyPr/>
          <a:lstStyle/>
          <a:p>
            <a:endParaRPr lang="en-US"/>
          </a:p>
        </p:txBody>
      </p:sp>
      <p:sp>
        <p:nvSpPr>
          <p:cNvPr id="11" name="Postgres + RLS label"/>
          <p:cNvSpPr txBox="1"/>
          <p:nvPr/>
        </p:nvSpPr>
        <p:spPr>
          <a:xfrm>
            <a:off x="3566160" y="2532888"/>
            <a:ext cx="1508760" cy="365760"/>
          </a:xfrm>
          <a:prstGeom prst="rect">
            <a:avLst/>
          </a:prstGeom>
          <a:noFill/>
          <a:ln/>
        </p:spPr>
        <p:txBody>
          <a:bodyPr wrap="square" lIns="0" tIns="0" rIns="0" bIns="0" rtlCol="0" anchor="ctr"/>
          <a:lstStyle/>
          <a:p>
            <a:pPr marL="0" indent="0" algn="ctr">
              <a:buNone/>
            </a:pPr>
            <a:r>
              <a:rPr lang="en-US" sz="1400" dirty="0">
                <a:solidFill>
                  <a:schemeClr val="tx1"/>
                </a:solidFill>
              </a:rPr>
              <a:t>Postgres + RLS</a:t>
            </a:r>
            <a:endParaRPr lang="en-US" sz="1400" dirty="0"/>
          </a:p>
        </p:txBody>
      </p:sp>
      <p:sp>
        <p:nvSpPr>
          <p:cNvPr id="12" name="Auth chip"/>
          <p:cNvSpPr/>
          <p:nvPr/>
        </p:nvSpPr>
        <p:spPr>
          <a:xfrm>
            <a:off x="5166360" y="2532888"/>
            <a:ext cx="1508760" cy="365760"/>
          </a:xfrm>
          <a:prstGeom prst="roundRect">
            <a:avLst>
              <a:gd name="adj" fmla="val 30000"/>
            </a:avLst>
          </a:prstGeom>
          <a:solidFill>
            <a:schemeClr val="accent5"/>
          </a:solidFill>
          <a:ln/>
        </p:spPr>
        <p:txBody>
          <a:bodyPr/>
          <a:lstStyle/>
          <a:p>
            <a:endParaRPr lang="en-US"/>
          </a:p>
        </p:txBody>
      </p:sp>
      <p:sp>
        <p:nvSpPr>
          <p:cNvPr id="13" name="Auth label"/>
          <p:cNvSpPr txBox="1"/>
          <p:nvPr/>
        </p:nvSpPr>
        <p:spPr>
          <a:xfrm>
            <a:off x="5166360" y="2532888"/>
            <a:ext cx="1508760" cy="365760"/>
          </a:xfrm>
          <a:prstGeom prst="rect">
            <a:avLst/>
          </a:prstGeom>
          <a:noFill/>
          <a:ln/>
        </p:spPr>
        <p:txBody>
          <a:bodyPr wrap="square" lIns="0" tIns="0" rIns="0" bIns="0" rtlCol="0" anchor="ctr"/>
          <a:lstStyle/>
          <a:p>
            <a:pPr marL="0" indent="0" algn="ctr">
              <a:buNone/>
            </a:pPr>
            <a:r>
              <a:rPr lang="en-US" sz="1400" dirty="0">
                <a:solidFill>
                  <a:schemeClr val="tx1"/>
                </a:solidFill>
              </a:rPr>
              <a:t>Auth</a:t>
            </a:r>
            <a:endParaRPr lang="en-US" sz="1400" dirty="0"/>
          </a:p>
        </p:txBody>
      </p:sp>
      <p:sp>
        <p:nvSpPr>
          <p:cNvPr id="14" name="Photo storage chip"/>
          <p:cNvSpPr/>
          <p:nvPr/>
        </p:nvSpPr>
        <p:spPr>
          <a:xfrm>
            <a:off x="3566160" y="2971800"/>
            <a:ext cx="1508760" cy="365760"/>
          </a:xfrm>
          <a:prstGeom prst="roundRect">
            <a:avLst>
              <a:gd name="adj" fmla="val 30000"/>
            </a:avLst>
          </a:prstGeom>
          <a:solidFill>
            <a:schemeClr val="accent5"/>
          </a:solidFill>
          <a:ln/>
        </p:spPr>
        <p:txBody>
          <a:bodyPr/>
          <a:lstStyle/>
          <a:p>
            <a:endParaRPr lang="en-US"/>
          </a:p>
        </p:txBody>
      </p:sp>
      <p:sp>
        <p:nvSpPr>
          <p:cNvPr id="15" name="Photo storage label"/>
          <p:cNvSpPr txBox="1"/>
          <p:nvPr/>
        </p:nvSpPr>
        <p:spPr>
          <a:xfrm>
            <a:off x="3566160" y="2971800"/>
            <a:ext cx="1508760" cy="365760"/>
          </a:xfrm>
          <a:prstGeom prst="rect">
            <a:avLst/>
          </a:prstGeom>
          <a:noFill/>
          <a:ln/>
        </p:spPr>
        <p:txBody>
          <a:bodyPr wrap="square" lIns="0" tIns="0" rIns="0" bIns="0" rtlCol="0" anchor="ctr"/>
          <a:lstStyle/>
          <a:p>
            <a:pPr marL="0" indent="0" algn="ctr">
              <a:buNone/>
            </a:pPr>
            <a:r>
              <a:rPr lang="en-US" sz="1400" dirty="0">
                <a:solidFill>
                  <a:schemeClr val="tx1"/>
                </a:solidFill>
              </a:rPr>
              <a:t>Photo storage</a:t>
            </a:r>
            <a:endParaRPr lang="en-US" sz="1400" dirty="0"/>
          </a:p>
        </p:txBody>
      </p:sp>
      <p:sp>
        <p:nvSpPr>
          <p:cNvPr id="16" name="Realtime chip"/>
          <p:cNvSpPr/>
          <p:nvPr/>
        </p:nvSpPr>
        <p:spPr>
          <a:xfrm>
            <a:off x="5166360" y="2971800"/>
            <a:ext cx="1508760" cy="365760"/>
          </a:xfrm>
          <a:prstGeom prst="roundRect">
            <a:avLst>
              <a:gd name="adj" fmla="val 30000"/>
            </a:avLst>
          </a:prstGeom>
          <a:solidFill>
            <a:schemeClr val="accent5"/>
          </a:solidFill>
          <a:ln/>
        </p:spPr>
        <p:txBody>
          <a:bodyPr/>
          <a:lstStyle/>
          <a:p>
            <a:endParaRPr lang="en-US"/>
          </a:p>
        </p:txBody>
      </p:sp>
      <p:sp>
        <p:nvSpPr>
          <p:cNvPr id="17" name="Realtime label"/>
          <p:cNvSpPr txBox="1"/>
          <p:nvPr/>
        </p:nvSpPr>
        <p:spPr>
          <a:xfrm>
            <a:off x="5166360" y="2971800"/>
            <a:ext cx="1508760" cy="365760"/>
          </a:xfrm>
          <a:prstGeom prst="rect">
            <a:avLst/>
          </a:prstGeom>
          <a:noFill/>
          <a:ln/>
        </p:spPr>
        <p:txBody>
          <a:bodyPr wrap="square" lIns="0" tIns="0" rIns="0" bIns="0" rtlCol="0" anchor="ctr"/>
          <a:lstStyle/>
          <a:p>
            <a:pPr marL="0" indent="0" algn="ctr">
              <a:buNone/>
            </a:pPr>
            <a:r>
              <a:rPr lang="en-US" sz="1400" dirty="0">
                <a:solidFill>
                  <a:schemeClr val="tx1"/>
                </a:solidFill>
              </a:rPr>
              <a:t>Realtime</a:t>
            </a:r>
            <a:endParaRPr lang="en-US" sz="1400" dirty="0"/>
          </a:p>
        </p:txBody>
      </p:sp>
      <p:pic>
        <p:nvPicPr>
          <p:cNvPr id="18" name="Flow arrow" descr="then"/>
          <p:cNvPicPr>
            <a:picLocks noChangeAspect="1"/>
          </p:cNvPicPr>
          <p:nvPr/>
        </p:nvPicPr>
        <p:blipFill>
          <a:blip r:embed="rId3"/>
          <a:stretch>
            <a:fillRect/>
          </a:stretch>
        </p:blipFill>
        <p:spPr>
          <a:xfrm>
            <a:off x="7040880" y="2491740"/>
            <a:ext cx="365760" cy="365760"/>
          </a:xfrm>
          <a:prstGeom prst="rect">
            <a:avLst/>
          </a:prstGeom>
        </p:spPr>
      </p:pic>
      <p:sp>
        <p:nvSpPr>
          <p:cNvPr id="19" name="Edge function box"/>
          <p:cNvSpPr/>
          <p:nvPr/>
        </p:nvSpPr>
        <p:spPr>
          <a:xfrm>
            <a:off x="7543800" y="1874520"/>
            <a:ext cx="1828800" cy="1600200"/>
          </a:xfrm>
          <a:prstGeom prst="roundRect">
            <a:avLst>
              <a:gd name="adj" fmla="val 6857"/>
            </a:avLst>
          </a:prstGeom>
          <a:solidFill>
            <a:schemeClr val="bg1"/>
          </a:solidFill>
          <a:ln w="19050">
            <a:solidFill>
              <a:schemeClr val="tx1"/>
            </a:solidFill>
            <a:prstDash val="solid"/>
          </a:ln>
        </p:spPr>
        <p:txBody>
          <a:bodyPr/>
          <a:lstStyle/>
          <a:p>
            <a:endParaRPr lang="en-US"/>
          </a:p>
        </p:txBody>
      </p:sp>
      <p:sp>
        <p:nvSpPr>
          <p:cNvPr id="20" name="Edge title"/>
          <p:cNvSpPr txBox="1"/>
          <p:nvPr/>
        </p:nvSpPr>
        <p:spPr>
          <a:xfrm>
            <a:off x="7772400" y="2148840"/>
            <a:ext cx="1371600" cy="411480"/>
          </a:xfrm>
          <a:prstGeom prst="rect">
            <a:avLst/>
          </a:prstGeom>
          <a:noFill/>
          <a:ln/>
        </p:spPr>
        <p:txBody>
          <a:bodyPr wrap="square" lIns="0" tIns="0" rIns="0" bIns="0" rtlCol="0" anchor="t"/>
          <a:lstStyle/>
          <a:p>
            <a:pPr marL="0" indent="0">
              <a:buNone/>
            </a:pPr>
            <a:r>
              <a:rPr lang="en-US" sz="1700" b="1" dirty="0">
                <a:solidFill>
                  <a:schemeClr val="tx1"/>
                </a:solidFill>
              </a:rPr>
              <a:t>Edge function</a:t>
            </a:r>
            <a:endParaRPr lang="en-US" sz="1700" dirty="0"/>
          </a:p>
        </p:txBody>
      </p:sp>
      <p:sp>
        <p:nvSpPr>
          <p:cNvPr id="21" name="Edge text"/>
          <p:cNvSpPr txBox="1"/>
          <p:nvPr/>
        </p:nvSpPr>
        <p:spPr>
          <a:xfrm>
            <a:off x="7772400" y="2606040"/>
            <a:ext cx="1371600" cy="548640"/>
          </a:xfrm>
          <a:prstGeom prst="rect">
            <a:avLst/>
          </a:prstGeom>
          <a:noFill/>
          <a:ln/>
        </p:spPr>
        <p:txBody>
          <a:bodyPr wrap="square" lIns="0" tIns="0" rIns="0" bIns="0" rtlCol="0" anchor="t"/>
          <a:lstStyle/>
          <a:p>
            <a:pPr marL="0" indent="0">
              <a:buNone/>
            </a:pPr>
            <a:r>
              <a:rPr lang="en-US" sz="1400" dirty="0">
                <a:solidFill>
                  <a:schemeClr val="tx2"/>
                </a:solidFill>
              </a:rPr>
              <a:t>holds the AI key</a:t>
            </a:r>
            <a:endParaRPr lang="en-US" sz="1400" dirty="0"/>
          </a:p>
        </p:txBody>
      </p:sp>
      <p:pic>
        <p:nvPicPr>
          <p:cNvPr id="22" name="Flow arrow" descr="then"/>
          <p:cNvPicPr>
            <a:picLocks noChangeAspect="1"/>
          </p:cNvPicPr>
          <p:nvPr/>
        </p:nvPicPr>
        <p:blipFill>
          <a:blip r:embed="rId3"/>
          <a:stretch>
            <a:fillRect/>
          </a:stretch>
        </p:blipFill>
        <p:spPr>
          <a:xfrm>
            <a:off x="9509760" y="2491740"/>
            <a:ext cx="365760" cy="365760"/>
          </a:xfrm>
          <a:prstGeom prst="rect">
            <a:avLst/>
          </a:prstGeom>
        </p:spPr>
      </p:pic>
      <p:sp>
        <p:nvSpPr>
          <p:cNvPr id="23" name="Gemma box"/>
          <p:cNvSpPr/>
          <p:nvPr/>
        </p:nvSpPr>
        <p:spPr>
          <a:xfrm>
            <a:off x="10012680" y="1874520"/>
            <a:ext cx="1493215" cy="1600200"/>
          </a:xfrm>
          <a:prstGeom prst="roundRect">
            <a:avLst>
              <a:gd name="adj" fmla="val 7348"/>
            </a:avLst>
          </a:prstGeom>
          <a:solidFill>
            <a:schemeClr val="accent1"/>
          </a:solidFill>
          <a:ln/>
        </p:spPr>
        <p:txBody>
          <a:bodyPr/>
          <a:lstStyle/>
          <a:p>
            <a:endParaRPr lang="en-US"/>
          </a:p>
        </p:txBody>
      </p:sp>
      <p:sp>
        <p:nvSpPr>
          <p:cNvPr id="24" name="Gemma title"/>
          <p:cNvSpPr txBox="1"/>
          <p:nvPr/>
        </p:nvSpPr>
        <p:spPr>
          <a:xfrm>
            <a:off x="10195560" y="2148840"/>
            <a:ext cx="1127455" cy="411480"/>
          </a:xfrm>
          <a:prstGeom prst="rect">
            <a:avLst/>
          </a:prstGeom>
          <a:noFill/>
          <a:ln/>
        </p:spPr>
        <p:txBody>
          <a:bodyPr wrap="square" lIns="0" tIns="0" rIns="0" bIns="0" rtlCol="0" anchor="t"/>
          <a:lstStyle/>
          <a:p>
            <a:pPr marL="0" indent="0">
              <a:buNone/>
            </a:pPr>
            <a:r>
              <a:rPr lang="en-US" sz="1700" b="1" dirty="0">
                <a:solidFill>
                  <a:schemeClr val="tx1"/>
                </a:solidFill>
              </a:rPr>
              <a:t>Gemma</a:t>
            </a:r>
            <a:endParaRPr lang="en-US" sz="1700" dirty="0"/>
          </a:p>
        </p:txBody>
      </p:sp>
      <p:sp>
        <p:nvSpPr>
          <p:cNvPr id="25" name="Gemma text"/>
          <p:cNvSpPr txBox="1"/>
          <p:nvPr/>
        </p:nvSpPr>
        <p:spPr>
          <a:xfrm>
            <a:off x="10195560" y="2606040"/>
            <a:ext cx="1127455" cy="548640"/>
          </a:xfrm>
          <a:prstGeom prst="rect">
            <a:avLst/>
          </a:prstGeom>
          <a:noFill/>
          <a:ln/>
        </p:spPr>
        <p:txBody>
          <a:bodyPr wrap="square" lIns="0" tIns="0" rIns="0" bIns="0" rtlCol="0" anchor="t"/>
          <a:lstStyle/>
          <a:p>
            <a:pPr marL="0" indent="0">
              <a:buNone/>
            </a:pPr>
            <a:r>
              <a:rPr lang="en-US" sz="1400" dirty="0">
                <a:solidFill>
                  <a:schemeClr val="tx1"/>
                </a:solidFill>
              </a:rPr>
              <a:t>via OpenRouter</a:t>
            </a:r>
            <a:endParaRPr lang="en-US" sz="1400" dirty="0"/>
          </a:p>
        </p:txBody>
      </p:sp>
      <p:sp>
        <p:nvSpPr>
          <p:cNvPr id="26" name="Rule 1 card"/>
          <p:cNvSpPr/>
          <p:nvPr/>
        </p:nvSpPr>
        <p:spPr>
          <a:xfrm>
            <a:off x="685800" y="3840480"/>
            <a:ext cx="3423818" cy="2194560"/>
          </a:xfrm>
          <a:prstGeom prst="roundRect">
            <a:avLst>
              <a:gd name="adj" fmla="val 5000"/>
            </a:avLst>
          </a:prstGeom>
          <a:solidFill>
            <a:schemeClr val="bg1"/>
          </a:solidFill>
          <a:ln/>
        </p:spPr>
        <p:txBody>
          <a:bodyPr/>
          <a:lstStyle/>
          <a:p>
            <a:endParaRPr lang="en-US"/>
          </a:p>
        </p:txBody>
      </p:sp>
      <p:sp>
        <p:nvSpPr>
          <p:cNvPr id="27" name="Rule 1 circle"/>
          <p:cNvSpPr/>
          <p:nvPr/>
        </p:nvSpPr>
        <p:spPr>
          <a:xfrm>
            <a:off x="960120" y="4069080"/>
            <a:ext cx="548640" cy="548640"/>
          </a:xfrm>
          <a:prstGeom prst="ellipse">
            <a:avLst/>
          </a:prstGeom>
          <a:solidFill>
            <a:schemeClr val="tx1"/>
          </a:solidFill>
          <a:ln/>
        </p:spPr>
        <p:txBody>
          <a:bodyPr/>
          <a:lstStyle/>
          <a:p>
            <a:endParaRPr lang="en-US"/>
          </a:p>
        </p:txBody>
      </p:sp>
      <p:pic>
        <p:nvPicPr>
          <p:cNvPr id="28" name="Rule 1 icon" descr="preencoded.png"/>
          <p:cNvPicPr>
            <a:picLocks noChangeAspect="1"/>
          </p:cNvPicPr>
          <p:nvPr/>
        </p:nvPicPr>
        <p:blipFill>
          <a:blip r:embed="rId4"/>
          <a:stretch>
            <a:fillRect/>
          </a:stretch>
        </p:blipFill>
        <p:spPr>
          <a:xfrm>
            <a:off x="1091794" y="4200754"/>
            <a:ext cx="285293" cy="285293"/>
          </a:xfrm>
          <a:prstGeom prst="rect">
            <a:avLst/>
          </a:prstGeom>
        </p:spPr>
      </p:pic>
      <p:sp>
        <p:nvSpPr>
          <p:cNvPr id="29" name="Rule 1 text"/>
          <p:cNvSpPr txBox="1"/>
          <p:nvPr/>
        </p:nvSpPr>
        <p:spPr>
          <a:xfrm>
            <a:off x="960120" y="4754880"/>
            <a:ext cx="2875178" cy="1188720"/>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A database trigger forces every new report to “pending review” — only the AI function or an admin can publish it.</a:t>
            </a:r>
            <a:endParaRPr lang="en-US" sz="1500" dirty="0"/>
          </a:p>
        </p:txBody>
      </p:sp>
      <p:sp>
        <p:nvSpPr>
          <p:cNvPr id="30" name="Rule 2 card"/>
          <p:cNvSpPr/>
          <p:nvPr/>
        </p:nvSpPr>
        <p:spPr>
          <a:xfrm>
            <a:off x="4383938" y="3840480"/>
            <a:ext cx="3423818" cy="2194560"/>
          </a:xfrm>
          <a:prstGeom prst="roundRect">
            <a:avLst>
              <a:gd name="adj" fmla="val 5000"/>
            </a:avLst>
          </a:prstGeom>
          <a:solidFill>
            <a:schemeClr val="bg1"/>
          </a:solidFill>
          <a:ln/>
        </p:spPr>
        <p:txBody>
          <a:bodyPr/>
          <a:lstStyle/>
          <a:p>
            <a:endParaRPr lang="en-US"/>
          </a:p>
        </p:txBody>
      </p:sp>
      <p:sp>
        <p:nvSpPr>
          <p:cNvPr id="31" name="Rule 2 circle"/>
          <p:cNvSpPr/>
          <p:nvPr/>
        </p:nvSpPr>
        <p:spPr>
          <a:xfrm>
            <a:off x="4658258" y="4069080"/>
            <a:ext cx="548640" cy="548640"/>
          </a:xfrm>
          <a:prstGeom prst="ellipse">
            <a:avLst/>
          </a:prstGeom>
          <a:solidFill>
            <a:schemeClr val="tx1"/>
          </a:solidFill>
          <a:ln/>
        </p:spPr>
        <p:txBody>
          <a:bodyPr/>
          <a:lstStyle/>
          <a:p>
            <a:endParaRPr lang="en-US"/>
          </a:p>
        </p:txBody>
      </p:sp>
      <p:pic>
        <p:nvPicPr>
          <p:cNvPr id="32" name="Rule 2 icon" descr="preencoded.png"/>
          <p:cNvPicPr>
            <a:picLocks noChangeAspect="1"/>
          </p:cNvPicPr>
          <p:nvPr/>
        </p:nvPicPr>
        <p:blipFill>
          <a:blip r:embed="rId5"/>
          <a:stretch>
            <a:fillRect/>
          </a:stretch>
        </p:blipFill>
        <p:spPr>
          <a:xfrm>
            <a:off x="4789932" y="4200754"/>
            <a:ext cx="285293" cy="285293"/>
          </a:xfrm>
          <a:prstGeom prst="rect">
            <a:avLst/>
          </a:prstGeom>
        </p:spPr>
      </p:pic>
      <p:sp>
        <p:nvSpPr>
          <p:cNvPr id="33" name="Rule 2 text"/>
          <p:cNvSpPr txBox="1"/>
          <p:nvPr/>
        </p:nvSpPr>
        <p:spPr>
          <a:xfrm>
            <a:off x="4658258" y="4754880"/>
            <a:ext cx="2875178" cy="1188720"/>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Donations go through one server function, and nobody can change their own role.</a:t>
            </a:r>
            <a:endParaRPr lang="en-US" sz="1500" dirty="0"/>
          </a:p>
        </p:txBody>
      </p:sp>
      <p:sp>
        <p:nvSpPr>
          <p:cNvPr id="34" name="Rule 3 card"/>
          <p:cNvSpPr/>
          <p:nvPr/>
        </p:nvSpPr>
        <p:spPr>
          <a:xfrm>
            <a:off x="8082077" y="3840480"/>
            <a:ext cx="3423818" cy="2194560"/>
          </a:xfrm>
          <a:prstGeom prst="roundRect">
            <a:avLst>
              <a:gd name="adj" fmla="val 5000"/>
            </a:avLst>
          </a:prstGeom>
          <a:solidFill>
            <a:schemeClr val="bg1"/>
          </a:solidFill>
          <a:ln/>
        </p:spPr>
        <p:txBody>
          <a:bodyPr/>
          <a:lstStyle/>
          <a:p>
            <a:endParaRPr lang="en-US"/>
          </a:p>
        </p:txBody>
      </p:sp>
      <p:sp>
        <p:nvSpPr>
          <p:cNvPr id="35" name="Rule 3 circle"/>
          <p:cNvSpPr/>
          <p:nvPr/>
        </p:nvSpPr>
        <p:spPr>
          <a:xfrm>
            <a:off x="8356397" y="4069080"/>
            <a:ext cx="548640" cy="548640"/>
          </a:xfrm>
          <a:prstGeom prst="ellipse">
            <a:avLst/>
          </a:prstGeom>
          <a:solidFill>
            <a:schemeClr val="tx1"/>
          </a:solidFill>
          <a:ln/>
        </p:spPr>
        <p:txBody>
          <a:bodyPr/>
          <a:lstStyle/>
          <a:p>
            <a:endParaRPr lang="en-US"/>
          </a:p>
        </p:txBody>
      </p:sp>
      <p:pic>
        <p:nvPicPr>
          <p:cNvPr id="36" name="Rule 3 icon" descr="preencoded.png"/>
          <p:cNvPicPr>
            <a:picLocks noChangeAspect="1"/>
          </p:cNvPicPr>
          <p:nvPr/>
        </p:nvPicPr>
        <p:blipFill>
          <a:blip r:embed="rId6"/>
          <a:stretch>
            <a:fillRect/>
          </a:stretch>
        </p:blipFill>
        <p:spPr>
          <a:xfrm>
            <a:off x="8488070" y="4200754"/>
            <a:ext cx="285293" cy="285293"/>
          </a:xfrm>
          <a:prstGeom prst="rect">
            <a:avLst/>
          </a:prstGeom>
        </p:spPr>
      </p:pic>
      <p:sp>
        <p:nvSpPr>
          <p:cNvPr id="37" name="Rule 3 text"/>
          <p:cNvSpPr txBox="1"/>
          <p:nvPr/>
        </p:nvSpPr>
        <p:spPr>
          <a:xfrm>
            <a:off x="8356397" y="4754880"/>
            <a:ext cx="2875178" cy="1188720"/>
          </a:xfrm>
          <a:prstGeom prst="rect">
            <a:avLst/>
          </a:prstGeom>
          <a:noFill/>
          <a:ln/>
        </p:spPr>
        <p:txBody>
          <a:bodyPr wrap="square" lIns="0" tIns="0" rIns="0" bIns="0" rtlCol="0" anchor="t"/>
          <a:lstStyle/>
          <a:p>
            <a:pPr marL="0" indent="0">
              <a:lnSpc>
                <a:spcPct val="110000"/>
              </a:lnSpc>
              <a:buNone/>
            </a:pPr>
            <a:r>
              <a:rPr lang="en-US" sz="1500" dirty="0">
                <a:solidFill>
                  <a:schemeClr val="tx1"/>
                </a:solidFill>
              </a:rPr>
              <a:t>The AI key is a server secret — it is never shipped to the phone.</a:t>
            </a:r>
            <a:endParaRPr lang="en-US" sz="1500" dirty="0"/>
          </a:p>
        </p:txBody>
      </p:sp>
      <p:sp>
        <p:nvSpPr>
          <p:cNvPr id="38" name="Slide Number Placeholder 0"/>
          <p:cNvSpPr>
            <a:spLocks noGrp="1"/>
          </p:cNvSpPr>
          <p:nvPr>
            <p:ph type="sldNum" sz="quarter" idx="4294967295"/>
          </p:nvPr>
        </p:nvSpPr>
        <p:spPr>
          <a:xfrm>
            <a:off x="1095725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rand"/>
          <p:cNvSpPr txBox="1"/>
          <p:nvPr/>
        </p:nvSpPr>
        <p:spPr>
          <a:xfrm>
            <a:off x="685800" y="914400"/>
            <a:ext cx="5486400" cy="548640"/>
          </a:xfrm>
          <a:prstGeom prst="rect">
            <a:avLst/>
          </a:prstGeom>
          <a:noFill/>
          <a:ln/>
        </p:spPr>
        <p:txBody>
          <a:bodyPr wrap="square" lIns="0" tIns="0" rIns="0" bIns="0" rtlCol="0" anchor="t"/>
          <a:lstStyle/>
          <a:p>
            <a:pPr marL="0" indent="0">
              <a:buNone/>
            </a:pPr>
            <a:r>
              <a:rPr lang="en-US" sz="2800" b="1" dirty="0">
                <a:solidFill>
                  <a:schemeClr val="tx1"/>
                </a:solidFill>
                <a:latin typeface="Cambria" pitchFamily="34" charset="0"/>
                <a:ea typeface="Cambria" pitchFamily="34" charset="-122"/>
                <a:cs typeface="Cambria" pitchFamily="34" charset="-120"/>
              </a:rPr>
              <a:t>Matab  </a:t>
            </a:r>
            <a:r>
              <a:rPr lang="en-US" sz="2800" b="1" dirty="0">
                <a:solidFill>
                  <a:schemeClr val="tx1"/>
                </a:solidFill>
                <a:latin typeface="Arial" pitchFamily="34" charset="0"/>
                <a:ea typeface="Arial" pitchFamily="34" charset="-122"/>
                <a:cs typeface="Arial" pitchFamily="34" charset="-120"/>
              </a:rPr>
              <a:t>مطب</a:t>
            </a:r>
            <a:endParaRPr lang="en-US" sz="2800" dirty="0"/>
          </a:p>
        </p:txBody>
      </p:sp>
      <p:sp>
        <p:nvSpPr>
          <p:cNvPr id="3" name="Text 0"/>
          <p:cNvSpPr>
            <a:spLocks noGrp="1"/>
          </p:cNvSpPr>
          <p:nvPr>
            <p:ph type="title" idx="100" hasCustomPrompt="1"/>
          </p:nvPr>
        </p:nvSpPr>
        <p:spPr>
          <a:xfrm>
            <a:off x="685800" y="1737360"/>
            <a:ext cx="10820095" cy="1188720"/>
          </a:xfrm>
          <a:prstGeom prst="rect">
            <a:avLst/>
          </a:prstGeom>
          <a:noFill/>
          <a:ln/>
        </p:spPr>
        <p:txBody>
          <a:bodyPr wrap="square" lIns="0" tIns="0" rIns="0" bIns="0" rtlCol="0" anchor="t"/>
          <a:lstStyle/>
          <a:p>
            <a:pPr marL="0" indent="0" algn="l">
              <a:buNone/>
            </a:pPr>
            <a:r>
              <a:rPr lang="en-US" sz="6000" b="1" dirty="0">
                <a:solidFill>
                  <a:schemeClr val="tx1"/>
                </a:solidFill>
              </a:rPr>
              <a:t>Report it. Back it. Get it fixed.</a:t>
            </a:r>
            <a:endParaRPr lang="en-US" sz="6000" dirty="0"/>
          </a:p>
        </p:txBody>
      </p:sp>
      <p:sp>
        <p:nvSpPr>
          <p:cNvPr id="4" name="Closing line"/>
          <p:cNvSpPr txBox="1"/>
          <p:nvPr/>
        </p:nvSpPr>
        <p:spPr>
          <a:xfrm>
            <a:off x="685800" y="3246120"/>
            <a:ext cx="9601200" cy="868680"/>
          </a:xfrm>
          <a:prstGeom prst="rect">
            <a:avLst/>
          </a:prstGeom>
          <a:noFill/>
          <a:ln/>
        </p:spPr>
        <p:txBody>
          <a:bodyPr wrap="square" lIns="0" tIns="0" rIns="0" bIns="0" rtlCol="0" anchor="t"/>
          <a:lstStyle/>
          <a:p>
            <a:pPr marL="0" indent="0">
              <a:lnSpc>
                <a:spcPct val="112000"/>
              </a:lnSpc>
              <a:buNone/>
            </a:pPr>
            <a:r>
              <a:rPr lang="en-US" sz="2000" dirty="0">
                <a:solidFill>
                  <a:schemeClr val="tx1"/>
                </a:solidFill>
              </a:rPr>
              <a:t>A photo of a broken street becomes a funded, verified, public repair — AI does the paperwork, people make the decisions.</a:t>
            </a:r>
            <a:endParaRPr lang="en-US" sz="2000" dirty="0"/>
          </a:p>
        </p:txBody>
      </p:sp>
    </p:spTree>
  </p:cSld>
  <p:clrMapOvr>
    <a:masterClrMapping/>
  </p:clrMapOvr>
</p:sld>
</file>

<file path=ppt/theme/theme1.xml><?xml version="1.0" encoding="utf-8"?>
<a:theme xmlns:a="http://schemas.openxmlformats.org/drawingml/2006/main" name="Matab">
  <a:themeElements>
    <a:clrScheme name="Matab">
      <a:dk1>
        <a:srgbClr val="1C2B4A"/>
      </a:dk1>
      <a:lt1>
        <a:srgbClr val="F6F9FB"/>
      </a:lt1>
      <a:dk2>
        <a:srgbClr val="46546E"/>
      </a:dk2>
      <a:lt2>
        <a:srgbClr val="DDE7F0"/>
      </a:lt2>
      <a:accent1>
        <a:srgbClr val="F2C230"/>
      </a:accent1>
      <a:accent2>
        <a:srgbClr val="B0204F"/>
      </a:accent2>
      <a:accent3>
        <a:srgbClr val="2F7D4A"/>
      </a:accent3>
      <a:accent4>
        <a:srgbClr val="263A60"/>
      </a:accent4>
      <a:accent5>
        <a:srgbClr val="EEF3F7"/>
      </a:accent5>
      <a:accent6>
        <a:srgbClr val="C5D2E2"/>
      </a:accent6>
      <a:hlink>
        <a:srgbClr val="2F6FB0"/>
      </a:hlink>
      <a:folHlink>
        <a:srgbClr val="6D2E46"/>
      </a:folHlink>
    </a:clrScheme>
    <a:fontScheme name="Mat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1834</Words>
  <Application>Microsoft Office PowerPoint</Application>
  <PresentationFormat>Widescreen</PresentationFormat>
  <Paragraphs>120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Matab</vt:lpstr>
      <vt:lpstr>Matab  مطب</vt:lpstr>
      <vt:lpstr>Broken streets have no visible owner</vt:lpstr>
      <vt:lpstr>Four groups win, one shared list</vt:lpstr>
      <vt:lpstr>Six steps from photo to published fix</vt:lpstr>
      <vt:lpstr>AI clears the queue, people decide</vt:lpstr>
      <vt:lpstr>Every fix becomes a public receipt</vt:lpstr>
      <vt:lpstr>Built for a phone, standing in the street</vt:lpstr>
      <vt:lpstr>A real stack, rules in the database</vt:lpstr>
      <vt:lpstr>Report it. Back it. Get it fixed.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Matab · مطب — Pitch</dc:title>
  <dc:subject>PptxGenJS Presentation</dc:subject>
  <dc:creator>Matab team</dc:creator>
  <cp:lastModifiedBy>MOHAMMAD ABU-EIDEH</cp:lastModifiedBy>
  <cp:revision>8</cp:revision>
  <dcterms:created xsi:type="dcterms:W3CDTF">2026-10-10T09:25:54Z</dcterms:created>
  <dcterms:modified xsi:type="dcterms:W3CDTF">2026-10-10T09:44:05Z</dcterms:modified>
</cp:coreProperties>
</file>